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hyperlink" Target="https://cwiki.apache.org/confluence/display/KAFKA/KIP-896%3A+Remove+old+client+protocol+API+versions+in+Kafka+4.0" TargetMode="External"/><Relationship Id="rId5" Type="http://schemas.openxmlformats.org/officeDocument/2006/relationships/hyperlink" Target="https://github.com/apache/kafka/blob/b7b1c0a83d856766390ee0c05e33b63711eee80e/docs/design/protocol.md#L94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apache/kafka/blob/b7b1c0a83d856766390ee0c05e33b63711eee80e/docs/getting-started/zk2kraft.md#L71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hyperlink" Target="https://cwiki.apache.org/confluence/display/KAFKA/KIP-35+-+Retrieving+protocol+version" TargetMode="External"/><Relationship Id="rId5" Type="http://schemas.openxmlformats.org/officeDocument/2006/relationships/hyperlink" Target="https://cwiki.apache.org/confluence/display/KAFKA/KIP-584%3A+Versioning+scheme+for+features" TargetMode="External"/><Relationship Id="rId6" Type="http://schemas.openxmlformats.org/officeDocument/2006/relationships/hyperlink" Target="https://github.com/apache/kafka/blob/b7b1c0a83d856766390ee0c05e33b63711eee80e/core/src/main/scala/kafka/server/BrokerBlockingSender.scala#L95" TargetMode="External"/><Relationship Id="rId7" Type="http://schemas.openxmlformats.org/officeDocument/2006/relationships/hyperlink" Target="https://github.com/apache/kafka/blob/b7b1c0a83d856766390ee0c05e33b63711eee80e/core/src/main/scala/kafka/coordinator/transaction/TransactionMarkerChannelManager.scala#L99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Relationship Id="rId4" Type="http://schemas.openxmlformats.org/officeDocument/2006/relationships/hyperlink" Target="https://github.com/apache/kafka/blob/b7b1c0a83d856766390ee0c05e33b63711eee80e/core/src/main/scala/kafka/server/BrokerBlockingSender.scala#L95" TargetMode="External"/><Relationship Id="rId5" Type="http://schemas.openxmlformats.org/officeDocument/2006/relationships/hyperlink" Target="https://github.com/apache/kafka/blob/b7b1c0a83d856766390ee0c05e33b63711eee80e/clients/src/main/java/org/apache/kafka/common/requests/OffsetsForLeaderEpochRequest.java#L65" TargetMode="External"/><Relationship Id="rId6" Type="http://schemas.openxmlformats.org/officeDocument/2006/relationships/hyperlink" Target="https://github.com/apache/kafka/blob/b7b1c0a83d856766390ee0c05e33b63711eee80e/core/src/main/scala/kafka/server/RemoteLeaderEndPoint.scala#L215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github.com/apache/kafka/blob/b7b1c0a83d856766390ee0c05e33b63711eee80e/clients/src/main/java/org/apache/kafka/common/requests/FetchRequest.java#L165" TargetMode="External"/><Relationship Id="rId4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Relationship Id="rId5" Type="http://schemas.openxmlformats.org/officeDocument/2006/relationships/hyperlink" Target="https://github.com/apache/kafka/blob/b7b1c0a83d856766390ee0c05e33b63711eee80e/clients/src/main/resources/common/message/FetchRequest.json#L61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hyperlink" Target="https://www.mongodb.com/docs/manual/reference/command/hello/" TargetMode="External"/><Relationship Id="rId6" Type="http://schemas.openxmlformats.org/officeDocument/2006/relationships/hyperlink" Target="https://www.postgresql.org/docs/current/protocol-flow.htm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cwiki.apache.org/confluence/display/KAFKA/KIP-896%3A+Remove+old+client+protocol+API+versions+in+Kafka+4.0" TargetMode="External"/><Relationship Id="rId4" Type="http://schemas.openxmlformats.org/officeDocument/2006/relationships/hyperlink" Target="https://github.com/apache/kafka/blob/b7b1c0a83d856766390ee0c05e33b63711eee80e/clients/src/main/java/org/apache/kafka/common/requests/RequestContext.java#L137" TargetMode="External"/><Relationship Id="rId5" Type="http://schemas.openxmlformats.org/officeDocument/2006/relationships/hyperlink" Target="https://github.com/apache/kafka/blob/b7b1c0a83d856766390ee0c05e33b63711eee80e/core/src/main/scala/kafka/server/KafkaApis.scala#L568" TargetMode="External"/><Relationship Id="rId6" Type="http://schemas.openxmlformats.org/officeDocument/2006/relationships/hyperlink" Target="https://github.com/apache/kafka/blob/b7b1c0a83d856766390ee0c05e33b63711eee80e/clients/src/main/resources/common/message/FetchRequest.json#L80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hyperlink" Target="https://github.com/apache/kafka/blob/b7b1c0a83d856766390ee0c05e33b63711eee80e/clients/src/test/java/org/apache/kafka/common/requests/RequestResponseTest.java#L340" TargetMode="External"/><Relationship Id="rId5" Type="http://schemas.openxmlformats.org/officeDocument/2006/relationships/hyperlink" Target="https://github.com/apache/kafka/blob/b7b1c0a83d856766390ee0c05e33b63711eee80e/clients/src/test/java/org/apache/kafka/common/message/MessageTest.java#L716" TargetMode="External"/><Relationship Id="rId6" Type="http://schemas.openxmlformats.org/officeDocument/2006/relationships/hyperlink" Target="https://cwiki.apache.org/confluence/display/KAFKA/KIP-896%3A+Remove+old+client+protocol+API+versions+in+Kafka+4.0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apache/kafka/blob/b7b1c0a83d856766390ee0c05e33b63711eee80e/tests/docker/Dockerfile#L79" TargetMode="External"/><Relationship Id="rId4" Type="http://schemas.openxmlformats.org/officeDocument/2006/relationships/hyperlink" Target="https://github.com/apache/kafka/blob/b7b1c0a83d856766390ee0c05e33b63711eee80e/tests/kafkatest/tests/client/client_compatibility_features_test.py#L109" TargetMode="External"/><Relationship Id="rId5" Type="http://schemas.openxmlformats.org/officeDocument/2006/relationships/hyperlink" Target="https://github.com/apache/kafka/blob/b7b1c0a83d856766390ee0c05e33b63711eee80e/tests/kafkatest/tests/core/upgrade_test.py#L167" TargetMode="External"/><Relationship Id="rId6" Type="http://schemas.openxmlformats.org/officeDocument/2006/relationships/hyperlink" Target="https://github.com/apache/kafka/blob/b7b1c0a83d856766390ee0c05e33b63711eee80e/server-common/src/test/java/org/apache/kafka/server/common/MetadataVersionTest.java#L219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pache/kafka/blob/b7b1c0a83d856766390ee0c05e33b63711eee80e/core/src/main/scala/kafka/server/RemoteLeaderEndPoint.scala#L215" TargetMode="External"/><Relationship Id="rId3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github.com/apache/kafka/blob/b7b1c0a83d856766390ee0c05e33b63711eee80e/clients/src/main/java/org/apache/kafka/clients/NodeApiVersions.java#L149" TargetMode="External"/><Relationship Id="rId4" Type="http://schemas.openxmlformats.org/officeDocument/2006/relationships/hyperlink" Target="https://github.com/apache/kafka/blob/b7b1c0a83d856766390ee0c05e33b63711eee80e/clients/src/main/java/org/apache/kafka/clients/NetworkClient.java#L591" TargetMode="External"/><Relationship Id="rId5" Type="http://schemas.openxmlformats.org/officeDocument/2006/relationships/hyperlink" Target="https://github.com/apache/kafka/blob/b7b1c0a83d856766390ee0c05e33b63711eee80e/clients/src/main/java/org/apache/kafka/common/requests/RequestContext.java#L112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github.com/apache/kafka/blob/b7b1c0a83d856766390ee0c05e33b63711eee80e/docs/getting-started/upgrade.md#L229" TargetMode="External"/><Relationship Id="rId4" Type="http://schemas.openxmlformats.org/officeDocument/2006/relationships/hyperlink" Target="https://github.com/apache/kafka/blob/b7b1c0a83d856766390ee0c05e33b63711eee80e/clients/src/main/resources/common/message/FetchRequest.json#L61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pache/kafka/blob/b7b1c0a83d856766390ee0c05e33b63711eee80e/clients/src/main/java/org/apache/kafka/common/requests/RequestContext.java#L112" TargetMode="External"/><Relationship Id="rId3" Type="http://schemas.openxmlformats.org/officeDocument/2006/relationships/hyperlink" Target="https://github.com/apache/kafka/blob/b7b1c0a83d856766390ee0c05e33b63711eee80e/core/src/main/scala/kafka/network/SocketServer.scala#L781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395728"/>
            <a:ext cx="91440" cy="1371600"/>
          </a:xfrm>
          <a:prstGeom prst="rect">
            <a:avLst/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103327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85FA5"/>
                </a:solidFill>
                <a:latin typeface="Calibri"/>
              </a:rPr>
              <a:t>幾萬個節點之上的版本控制 · 第三場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10332720" cy="1280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4600" b="1">
                <a:solidFill>
                  <a:srgbClr val="1E2024"/>
                </a:solidFill>
                <a:latin typeface="Calibri"/>
              </a:rPr>
              <a:t>溝通當下的版本選擇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840480"/>
            <a:ext cx="1033272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000" b="0">
                <a:solidFill>
                  <a:srgbClr val="5F5E5A"/>
                </a:solidFill>
                <a:latin typeface="Calibri"/>
              </a:rPr>
              <a:t>長壽的 client、滾動升級的 broker，怎麼喬出共同版本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6080760"/>
            <a:ext cx="103327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Eric Chang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議程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本場範圍</a:t>
            </a:r>
          </a:p>
        </p:txBody>
      </p:sp>
      <p:pic>
        <p:nvPicPr>
          <p:cNvPr id="4" name="Picture 3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1 — 為什麼不能「一個版本打天下」，版本又是怎麼選出來的</a:t>
            </a:r>
          </a:p>
        </p:txBody>
      </p:sp>
      <p:pic>
        <p:nvPicPr>
          <p:cNvPr id="6" name="Picture 5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816352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27889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2 — 協商失敗時，會看到什麼訊息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點題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為什麼不能「一個版本打天下」？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54864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直覺（想像中）：  client v4.1 ─────── broker v4.1   同版、一起升</a:t>
            </a:r>
          </a:p>
        </p:txBody>
      </p:sp>
      <p:pic>
        <p:nvPicPr>
          <p:cNvPr id="5" name="Picture 4" descr="clock-hour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926079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2898648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現實一：client 是內嵌在應用裡的函式庫——IoT 裝置、車載系統、多年前的 batch job，隨應用長期運行、難更新（Kafka 曾為此保留每個 protocol 版本近九年）</a:t>
            </a:r>
          </a:p>
        </p:txBody>
      </p:sp>
      <p:pic>
        <p:nvPicPr>
          <p:cNvPr id="7" name="Picture 6" descr="server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261104"/>
            <a:ext cx="274320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" y="4233672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現實二：Kafka 要求 zero downtime → broker 只能一台一台滾動升級 → 過程必然新舊混版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221224"/>
            <a:ext cx="10972800" cy="566928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兩個現實加起來：不能鎖全叢集同一版（又要不停機）——版本無法事先統一，那要怎麼選？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71032"/>
            <a:ext cx="10972800" cy="102412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這其實就是 backward／forward compatibility：一般服務多靠『加欄位＋ URL 版號 /v1 /v2』相容；Kafka 特別在每支 API 各自宣告版本區間、連線當下協商挑一版（更像 TLS 選 cipher，而非固定版號）。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4"/>
              </a:rPr>
              <a:t>KIP-896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protocol.md:94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術語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要談「怎麼選」，先分清楚「版本」是哪一層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上一頁的結論是「版本無法事先統一」；但在講機制前得先知道，日常講的『版本』其實混了三個東西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36392"/>
            <a:ext cx="10972800" cy="164592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release version   = 我裝了哪版 binary            (per-node)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metadata.version  = 叢集 finalized 的 feature level (cluster-wide)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wire API version  = 這條連線講第幾版               (per-connection)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983480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finalize＝管理員手動宣告全叢集一致採用的 feature level（第一場《版本定義》的主題）。本場主角是 wire 版本。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>
                <a:solidFill>
                  <a:srgbClr val="8A8A8A"/>
                </a:solidFill>
                <a:latin typeface="Calibri"/>
              </a:rPr>
              <a:t>kafka-features describe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zk2kraft.md:71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架構 (a)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版本怎麼定：協商，還是由 MV 事先釘版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機制一 · 協商（KIP-35）：連線後送 ApiVersionsRequest、取交集最高——多數路徑都是</a:t>
            </a:r>
          </a:p>
        </p:txBody>
      </p:sp>
      <p:pic>
        <p:nvPicPr>
          <p:cNvPr id="6" name="Picture 5" descr="b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163824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3136392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機制二 · 由叢集 MV 事先釘版（KIP-584）：只有 replica fetch（partition replication）這條不協商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23944"/>
            <a:ext cx="10972800" cy="137160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協商定版   client↔broker · broker↔controller · Raft · broker↔broker txn markers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MV 釘版    replica fetch（follower → leader partition replication）—— 唯一一條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696712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所以「broker↔broker 不協商」並不精確：只有 replica fetch 這條；同是 broker↔broker 的 transaction markers 仍協商。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4"/>
              </a:rPr>
              <a:t>KIP-35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5"/>
              </a:rPr>
              <a:t>KIP-584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6"/>
              </a:rPr>
              <a:t>replica fetch=false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7"/>
              </a:rPr>
              <a:t>txn markers=true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架構 (b)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查詢之後，最終版本誰說了算？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37160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協商           取交集最高（client↔broker、broker↔controller、Raft、txn markers）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replica fetch  不協商——Fetch/ListOffsets 由 finalized MV、OffsetsForLeaderEpoch 寫死 v4</a:t>
            </a:r>
          </a:p>
        </p:txBody>
      </p:sp>
      <p:pic>
        <p:nvPicPr>
          <p:cNvPr id="5" name="Picture 4" descr="b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74904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721608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replica fetch 連 ApiVersionsRequest 都不送（discoverBrokerVersions=false）：這條路上一整組 RPC 版本都不看對端能力，改由叢集事先決定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056632"/>
            <a:ext cx="10972800" cy="1188720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為什麼 replica fetch 交給 MV？它要求 follower↔leader 全講同一版、沒法各連線各挑。代價『升級變兩階段』其實是 MV 治理的通性（凡版本由 MV 決定者皆然），非它專屬；協商連線則自動挑上去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fetchRequestVersion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discoverBrokerVersions=false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forFollower 寫死 v4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6"/>
              </a:rPr>
              <a:t>RemoteLeaderEndPoint.scala:215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舉例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900" b="1">
                <a:solidFill>
                  <a:srgbClr val="1E2024"/>
                </a:solidFill>
                <a:latin typeface="Calibri"/>
              </a:rPr>
              <a:t>以一支 Fetch 為例：consumer 協商、replica 由 MV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5F5E5A"/>
                </a:solidFill>
                <a:latin typeface="Calibri"/>
              </a:rPr>
              <a:t>同一支 Fetch 兩種身分：consumer fetch 走 client↔broker、replica fetch 走 broker↔broker</a:t>
            </a:r>
          </a:p>
        </p:txBody>
      </p:sp>
      <p:pic>
        <p:nvPicPr>
          <p:cNvPr id="5" name="Picture 4" descr="s2a-rang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208" y="1965960"/>
            <a:ext cx="8869680" cy="40977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forConsumer/forReplica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fetchRequestVersion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validVersions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同一道題，別家怎麼答——各付什麼代價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Kafka：per-API 協商，replica fetch 交給 MV 釘版。買到單支 API 獨立演進、複製層可線上滾動升級；代價＝協定面積最大、相容性測試按 API × 版本數放大</a:t>
            </a:r>
          </a:p>
        </p:txBody>
      </p:sp>
      <p:pic>
        <p:nvPicPr>
          <p:cNvPr id="6" name="Picture 5" descr="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511296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3483864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MongoDB：全域一個 wire version＋FCV 治理叢集。實作簡單；代價＝粒度粗、無法單支 API 獨立演進（FCV 與 MV 同一套思路）</a:t>
            </a:r>
          </a:p>
        </p:txBody>
      </p:sp>
      <p:pic>
        <p:nvPicPr>
          <p:cNvPr id="8" name="Picture 7" descr="lea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498848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" y="4471416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PostgreSQL：協定 v3 逾二十年極穩定；但實體複製鎖 major → 複製層無法線上滾動升級（得停機 pg_upgrade 或另建叢集）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458968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沒有免費的選擇：Kafka 拿協定複雜度換到細粒度演進＋複製層線上升級——後者正是 PostgreSQL 買不到的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5"/>
              </a:rPr>
              <a:t>MongoDB hello / FCV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6"/>
              </a:rPr>
              <a:t>PostgreSQL protocol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代價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Kafka 這個選擇有多貴（實測數字）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822959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90 支 API × 308 個現役 wire 版本 → generator 吹成約 18× 生成碼（~18 萬行）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每加一版：改 .json、逐版生 read/write/size、ApiKeys 補版號</a:t>
            </a:r>
          </a:p>
        </p:txBody>
      </p:sp>
      <p:pic>
        <p:nvPicPr>
          <p:cNvPr id="5" name="Picture 4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200399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172968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broker handler 還得逐版分岔：按協商版本讀/填欄位、回應用『同一版』序列化、老版缺的欄位給預設，連語意差異（如 topic-id 取代 topic-name）都要 if (version≥N)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07992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這還只是「生成碼＋handler」；相容性測試是另一條隱形帳單（下兩張細看）——build 全版本 round-trip＋release 養一堆歷史版本。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367528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貴到 Kafka 自己在 KIP-896 承認「maintenance cost up, value down」，4.0 砍掉 2.1 以前的舊版本止血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3"/>
              </a:rPr>
              <a:t>KIP-896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buildResponseSend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fetch version()&gt;=13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6"/>
              </a:rPr>
              <a:t>MaxBytes v3+ default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代價 · 測試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相容性測試（一）：每次 build 全版本 round-trip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09728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RequestResponseTest.testSerialization：ApiKeys × allVersions 全積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94 支 RPC、308 個現役請求版本 → build → 序列化 → 反序列化 → 比對，逐一跑</a:t>
            </a:r>
          </a:p>
        </p:txBody>
      </p:sp>
      <p:pic>
        <p:nvPicPr>
          <p:cNvPr id="5" name="Picture 4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47472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447288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靠 ApiKeys.values() × allVersions() 迴圈，新增版本自動涵蓋——省了手改，代價是每次 build 執行量只增不減</a:t>
            </a:r>
          </a:p>
        </p:txBody>
      </p:sp>
      <p:pic>
        <p:nvPicPr>
          <p:cNvPr id="7" name="Picture 6" descr="b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462272"/>
            <a:ext cx="274320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" y="443484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想跳過某個歷史版本？得進 toSkip 白名單特案處理——目前只 4 支 RPC 拿得到豁免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422392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KIP-896 直言維護舊版本「both in code complexity and the testing matrix」——測試面正是其一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testSerialization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round-trip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6"/>
              </a:rPr>
              <a:t>KIP-896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代價 · 測試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相容性測試（二）：把過去七年的 Kafka 一起養著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822959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系統測試映像 curl 下載 22 個歷史版本二進位（2.1.1 → 4.3.0）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client 相容測試：每個歷史 broker 各跑一遍（22 + dev = 23 param × 2 支測試）</a:t>
            </a:r>
          </a:p>
        </p:txBody>
      </p:sp>
      <p:pic>
        <p:nvPicPr>
          <p:cNvPr id="5" name="Picture 4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200399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172968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升級/降級是 from×to 矩陣：4 個 @matrix × 11 個 from_version；混版交易再 22 組；MetadataVersion 另有 25 個現役 MV × 7 個 enum 測試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07992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取捨：相容承諾＝「一次寫、永遠不能少測」——每發一個 release，version.py＋Dockerfile＋各測試 @parametrize 都得手動 +1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下載 22 版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client 相容 ×23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升級矩陣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6"/>
              </a:rPr>
              <a:t>25 MV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replica fetch（broker↔broker）的 Fetch 版本怎麼決定？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兩 broker ApiVersions 協商取交集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B.  </a:t>
            </a:r>
            <a:r>
              <a:rPr sz="1600" b="0">
                <a:solidFill>
                  <a:srgbClr val="1E2024"/>
                </a:solidFill>
                <a:latin typeface="Calibri"/>
              </a:rPr>
              <a:t>由 finalized metadata.version 決定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永遠用最新版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controller 每次指定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想一想 —— 下一頁公布答案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　（正解）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replica fetch（broker↔broker）的 Fetch 版本怎麼決定？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兩 broker ApiVersions 協商取交集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28016" tIns="54864">
            <a:noAutofit/>
          </a:bodyPr>
          <a:lstStyle/>
          <a:p>
            <a:r>
              <a:rPr sz="1600" b="1">
                <a:solidFill>
                  <a:srgbClr val="27500A"/>
                </a:solidFill>
                <a:latin typeface="Calibri"/>
              </a:rPr>
              <a:t>B.  </a:t>
            </a:r>
            <a:r>
              <a:rPr sz="1600" b="1">
                <a:solidFill>
                  <a:srgbClr val="27500A"/>
                </a:solidFill>
                <a:latin typeface="Calibri"/>
              </a:rPr>
              <a:t>由 finalized metadata.version 決定   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永遠用最新版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controller 每次指定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27500A"/>
                </a:solidFill>
                <a:latin typeface="Calibri"/>
              </a:rPr>
              <a:t>正解 B — </a:t>
            </a:r>
            <a:r>
              <a:rPr sz="1400" b="0">
                <a:solidFill>
                  <a:srgbClr val="1E2024"/>
                </a:solidFill>
                <a:latin typeface="Calibri"/>
              </a:rPr>
              <a:t>fetchRequestVersion(MV)：MV 是集中共識，不做 per-connection 協商。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2"/>
              </a:rPr>
              <a:t>RemoteLeaderEndPoint.scala:215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MetadataVersion.java:273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2 · 失敗訊息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通訊當下協商不出版本，會看到什麼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64592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交集空                       → client 端 UnsupportedVersionException（送出前 abort）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client 繞過協商、硬送不支援版本 → broker 丟 UnsupportedVersionException、關閉連線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（ApiVersions 例外：回 v0 + UNSUPPORTED_VERSION 錯誤碼）</a:t>
            </a:r>
          </a:p>
        </p:txBody>
      </p:sp>
      <p:pic>
        <p:nvPicPr>
          <p:cNvPr id="5" name="Picture 4" descr="b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02336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995928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多數情況 client 在送出前就本地中止，根本沒上網路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636008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「硬送」指 client↔broker：自刻或有 bug 的 client 繞過協商；broker↔broker 版本已由 MV 事先釘住，不會送出對方不懂的版本。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latestUsableVersion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NetworkClient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RequestContext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2 · 失敗訊息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版本截斷：為什麼「升一點點」不夠</a:t>
            </a:r>
          </a:p>
        </p:txBody>
      </p:sp>
      <p:pic>
        <p:nvPicPr>
          <p:cNvPr id="4" name="Picture 3" descr="alert-triang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前一頁「交集空」最容易被忽略的根因——舊 wire 版本被整批移除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88920"/>
            <a:ext cx="10972800" cy="822959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舊 wire API version 被整個移除，min 可 &gt; 0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  Fetch：4–18（v0–3 在 4.0 移除）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813048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解法：升任一端到 4.0 前，先確認另一端 ≥ 2.1（upgrade guide 明訂雙向要求），否則協商結果沒有可用版本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73752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取捨：0.8.0（2013）起九年保留每個版本——每個舊版本都是活的程式碼與測試面；4.0 用「斷 2018 年前的 client」換「刪九年的碼」，只有 major 版本邊界付得起。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733288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銜接（非本場）：finalize / 升降當下的錯誤（INVALID_UPDATE_VERSION 等）屬「運行時的版本升降」那場，本場不展開。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upgrade.md:229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FetchRequest.json validVersions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client 繞過協商、直接送出 broker 不支援的 API version，會怎樣？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一律回 UNSUPPORTED_VERSION 錯誤碼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B.  </a:t>
            </a:r>
            <a:r>
              <a:rPr sz="1600" b="0">
                <a:solidFill>
                  <a:srgbClr val="1E2024"/>
                </a:solidFill>
                <a:latin typeface="Calibri"/>
              </a:rPr>
              <a:t>只有 ApiVersions 例外回錯誤碼+支援範圍；其他 API 直接關閉連線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broker 自動降版處理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忽略版本照常處理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想一想 —— 下一頁公布答案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　（正解）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client 繞過協商、直接送出 broker 不支援的 API version，會怎樣？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一律回 UNSUPPORTED_VERSION 錯誤碼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28016" tIns="54864">
            <a:noAutofit/>
          </a:bodyPr>
          <a:lstStyle/>
          <a:p>
            <a:r>
              <a:rPr sz="1600" b="1">
                <a:solidFill>
                  <a:srgbClr val="27500A"/>
                </a:solidFill>
                <a:latin typeface="Calibri"/>
              </a:rPr>
              <a:t>B.  </a:t>
            </a:r>
            <a:r>
              <a:rPr sz="1600" b="1">
                <a:solidFill>
                  <a:srgbClr val="27500A"/>
                </a:solidFill>
                <a:latin typeface="Calibri"/>
              </a:rPr>
              <a:t>只有 ApiVersions 例外回錯誤碼+支援範圍；其他 API 直接關閉連線   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broker 自動降版處理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忽略版本照常處理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27500A"/>
                </a:solidFill>
                <a:latin typeface="Calibri"/>
              </a:rPr>
              <a:t>正解 B — </a:t>
            </a:r>
            <a:r>
              <a:rPr sz="1400" b="0">
                <a:solidFill>
                  <a:srgbClr val="1E2024"/>
                </a:solidFill>
                <a:latin typeface="Calibri"/>
              </a:rPr>
              <a:t>ApiVersions 是協商的第一支 request（此時雙方還不知道彼此版本），若它也關閉連線，client 永遠問不到支援範圍，故回 v0+錯誤碼讓 client 重新協商；其他 API 在 RequestContext 解析失敗、SocketServer 關閉連線。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2"/>
              </a:rPr>
              <a:t>RequestContext.java:112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SocketServer.scala:781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回到開場那個問題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09728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想像中：client v4.1 ─── broker v4.1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實際上：同一顆 4.1 broker，同時講 Fetch v11（對老 consumer）和 v17（對 replica）</a:t>
            </a:r>
          </a:p>
        </p:txBody>
      </p:sp>
      <p:pic>
        <p:nvPicPr>
          <p:cNvPr id="5" name="Picture 4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47472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447288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1：不能「一個版本打天下」（client 長壽、broker 滾動升級）；多數路徑靠協商，唯一不協商、由 finalized MV 釘版的是 replica fetch（其餘 broker↔broker 仍協商）</a:t>
            </a:r>
          </a:p>
        </p:txBody>
      </p:sp>
      <p:pic>
        <p:nvPicPr>
          <p:cNvPr id="7" name="Picture 6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809744"/>
            <a:ext cx="274320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" y="4782312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Part 2：協商不出版本 → UnsupportedVersionException（多在送出前中止）；finalize／升降的錯誤交給運行時那場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769864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立場：per-API 細粒度協商＋replication 集中治理，是為「client 生態極度分散」量身的取捨——對 Kafka 划算，但不是通用解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