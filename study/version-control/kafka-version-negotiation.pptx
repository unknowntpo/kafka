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apache/kafka/blob/b7b1c0a83d856766390ee0c05e33b63711eee80e/docs/design/protocol.md#L94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hyperlink" Target="https://cwiki.apache.org/confluence/display/KAFKA/KIP-896%3A+Remove+old+client+protocol+API+versions+in+Kafka+4.0" TargetMode="External"/><Relationship Id="rId6" Type="http://schemas.openxmlformats.org/officeDocument/2006/relationships/hyperlink" Target="https://github.com/apache/kafka/blob/b7b1c0a83d856766390ee0c05e33b63711eee80e/docs/design/protocol.md#L94" TargetMode="External"/><Relationship Id="rId7" Type="http://schemas.openxmlformats.org/officeDocument/2006/relationships/hyperlink" Target="https://cwiki.apache.org/confluence/display/KAFKA/KIP-35+-+Retrieving+protocol+version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github.com/apache/kafka/blob/b7b1c0a83d856766390ee0c05e33b63711eee80e/clients/src/main/java/org/apache/kafka/common/requests/FetchRequest.java#L165" TargetMode="External"/><Relationship Id="rId4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Relationship Id="rId5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docs/getting-started/zk2kraft.md#L7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design/protocol.md#L94" TargetMode="External"/><Relationship Id="rId3" Type="http://schemas.openxmlformats.org/officeDocument/2006/relationships/hyperlink" Target="https://cwiki.apache.org/confluence/display/KAFKA/KIP-896%3A+Remove+old+client+protocol+API+versions+in+Kafka+4.0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4" Type="http://schemas.openxmlformats.org/officeDocument/2006/relationships/hyperlink" Target="https://github.com/apache/kafka/blob/b7b1c0a83d856766390ee0c05e33b63711eee80e/clients/src/main/java/org/apache/kafka/clients/NodeApiVersions.java#L149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hyperlink" Target="https://github.com/apache/kafka/blob/b7b1c0a83d856766390ee0c05e33b63711eee80e/server-common/src/main/java/org/apache/kafka/server/common/MetadataVersion.java#L31" TargetMode="External"/><Relationship Id="rId6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7" Type="http://schemas.openxmlformats.org/officeDocument/2006/relationships/hyperlink" Target="https://github.com/apache/kafka/blob/b7b1c0a83d856766390ee0c05e33b63711eee80e/clients/src/main/java/org/apache/kafka/common/requests/FetchRequest.java#L13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ore/src/main/scala/kafka/server/RemoteLeaderEndPoint.scala#L215" TargetMode="External"/><Relationship Id="rId3" Type="http://schemas.openxmlformats.org/officeDocument/2006/relationships/hyperlink" Target="https://github.com/apache/kafka/blob/b7b1c0a83d856766390ee0c05e33b63711eee80e/server-common/src/main/java/org/apache/kafka/server/common/MetadataVersion.java#L27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hyperlink" Target="https://github.com/apache/kafka/blob/b7b1c0a83d856766390ee0c05e33b63711eee80e/clients/src/main/java/org/apache/kafka/clients/NodeApiVersions.java#L149" TargetMode="External"/><Relationship Id="rId4" Type="http://schemas.openxmlformats.org/officeDocument/2006/relationships/hyperlink" Target="https://github.com/apache/kafka/blob/b7b1c0a83d856766390ee0c05e33b63711eee80e/clients/src/main/java/org/apache/kafka/clients/NetworkClient.java#L591" TargetMode="External"/><Relationship Id="rId5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docs/getting-started/upgrade.md#L229" TargetMode="External"/><Relationship Id="rId3" Type="http://schemas.openxmlformats.org/officeDocument/2006/relationships/hyperlink" Target="https://github.com/apache/kafka/blob/b7b1c0a83d856766390ee0c05e33b63711eee80e/clients/src/main/resources/common/message/FetchRequest.json#L61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pache/kafka/blob/b7b1c0a83d856766390ee0c05e33b63711eee80e/clients/src/main/java/org/apache/kafka/common/requests/RequestContext.java#L112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95728"/>
            <a:ext cx="91440" cy="1371600"/>
          </a:xfrm>
          <a:prstGeom prst="rect">
            <a:avLst/>
          </a:prstGeom>
          <a:solidFill>
            <a:srgbClr val="185F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1">
                <a:solidFill>
                  <a:srgbClr val="185FA5"/>
                </a:solidFill>
                <a:latin typeface="Calibri"/>
              </a:rPr>
              <a:t>幾萬個節點之上的版本控制 · 第三場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10332720" cy="12801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4600" b="1">
                <a:solidFill>
                  <a:srgbClr val="1E2024"/>
                </a:solidFill>
                <a:latin typeface="Calibri"/>
              </a:rPr>
              <a:t>溝通當下的版本選擇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840480"/>
            <a:ext cx="1033272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000" b="0">
                <a:solidFill>
                  <a:srgbClr val="5F5E5A"/>
                </a:solidFill>
                <a:latin typeface="Calibri"/>
              </a:rPr>
              <a:t>長壽的 client、滾動升級的 broker，怎麼喬出共同版本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6080760"/>
            <a:ext cx="10332720" cy="457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Eric Chang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點題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為什麼不「一個版本打天下」？</a:t>
            </a:r>
          </a:p>
        </p:txBody>
      </p:sp>
      <p:pic>
        <p:nvPicPr>
          <p:cNvPr id="4" name="Picture 3" descr="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初學者常有的直覺：client 與 broker 使用同一個版本，升級時一併更新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54864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想像中：  client v4.1 ─────── broker v4.1</a:t>
            </a:r>
          </a:p>
        </p:txBody>
      </p:sp>
      <p:pic>
        <p:nvPicPr>
          <p:cNvPr id="7" name="Picture 6" descr="help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566160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353872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但只要叢集達到一定規模，這個假設就不再成立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protocol.md:94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為什麼麻煩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為什麼叢集裡版本總是對不齊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真實：  client v2.3 ── broker v4.1   （對不齊）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      client v3.6 ── broker v4.0</a:t>
            </a:r>
          </a:p>
        </p:txBody>
      </p:sp>
      <p:pic>
        <p:nvPicPr>
          <p:cNvPr id="5" name="Picture 4" descr="clock-hour-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200399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172968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內嵌在各應用程式中，通常長期不更新；Kafka 也因此保留每個 protocol 版本達九年，4.0（KIP-896）才把下限提到 2.1</a:t>
            </a:r>
          </a:p>
        </p:txBody>
      </p:sp>
      <p:pic>
        <p:nvPicPr>
          <p:cNvPr id="7" name="Picture 6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4187952"/>
            <a:ext cx="274320" cy="274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992" y="41605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本身也是逐台滾動升級，升級期間叢集必然新舊版本並存，連 broker 之間也會混版</a:t>
            </a:r>
          </a:p>
        </p:txBody>
      </p:sp>
      <p:pic>
        <p:nvPicPr>
          <p:cNvPr id="9" name="Picture 8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5175504"/>
            <a:ext cx="274320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78992" y="514807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若要求所有節點版本一致，就得整批停機升級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788152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因此改由每條連線各自協商版本，才能逐台滾動升級、過程中不需停機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5"/>
              </a:rPr>
              <a:t>KIP-896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7"/>
              </a:rPr>
              <a:t>KIP-35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§2a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000" b="1">
                <a:solidFill>
                  <a:srgbClr val="1E2024"/>
                </a:solidFill>
                <a:latin typeface="Calibri"/>
              </a:rPr>
              <a:t>為什麼一個版本號不夠：同一支 Fetch，兩種選版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81328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5F5E5A"/>
                </a:solidFill>
                <a:latin typeface="Calibri"/>
              </a:rPr>
              <a:t>Fetch＝讀取 partition 資料的 RPC：consumer 拿來讀資料、follower（broker）拿來複製 log</a:t>
            </a:r>
          </a:p>
        </p:txBody>
      </p:sp>
      <p:pic>
        <p:nvPicPr>
          <p:cNvPr id="5" name="Picture 4" descr="s2a-ran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208" y="1965960"/>
            <a:ext cx="8869680" cy="40936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forConsumer/forReplica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fetchRequestVersion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validVersions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1 · §2b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所以要分三層：三種 scope 互斥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release version   = 我裝了哪版 binary   (per-node)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metadata.version  = 叢集一致的能力世代   (cluster-wide, finalize)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wire API version  = 這條連線講第幾版     (per-connection)</a:t>
            </a:r>
          </a:p>
        </p:txBody>
      </p:sp>
      <p:pic>
        <p:nvPicPr>
          <p:cNvPr id="5" name="Picture 4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47472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44728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三層不會同步變動、scope 也不同，多數版本問題的根源都在於此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單一版本號無法同時表達三種 scope，只能拆成三層各自管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>
                <a:solidFill>
                  <a:srgbClr val="8A8A8A"/>
                </a:solidFill>
                <a:latin typeface="Calibri"/>
              </a:rPr>
              <a:t>kafka-features describe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zk2kraft.md:71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不行——client 長壽 + 要不停機，得溝通當下協商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暖身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可以「一個版本打天下」嗎？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可以，大家同一版一起升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不行——client 長壽 + 要不停機，得溝通當下協商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可以，只要都 4.x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看 broker 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client 嵌在各 app、超長壽，混版是常態；要不停機升級就得每條連線各自選版本。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protocol.md:94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alibri"/>
                <a:hlinkClick r:id="rId3"/>
              </a:rPr>
              <a:t>KIP-896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機制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版本怎麼選：先握手，再看 Builder 留多少自由度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每條連線底層都先做 ApiVersions 握手，交換各自支援的版本範圍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88920"/>
            <a:ext cx="10972800" cy="109728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Builder 全範圍   → 協商挑交集最高（多數 RPC）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Builder pin 成 MV → MV 決定（複製用 Fetch）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Builder 寫死常數  → 固定（OffsetsForLeaderEpoch）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87368"/>
            <a:ext cx="10972800" cy="43891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決定版本的不是「哪條路徑」，而是那支 request 的 Builder 給多少版本空間。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latestUsableVersion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2 · 三個角色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三個角色，版本機制不同</a:t>
            </a:r>
          </a:p>
        </p:txBody>
      </p:sp>
      <p:pic>
        <p:nvPicPr>
          <p:cNvPr id="4" name="Picture 3" descr="arrows-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client ↔ broker：ApiVersions 協商，取交集最高</a:t>
            </a:r>
          </a:p>
        </p:txBody>
      </p:sp>
      <p:pic>
        <p:nvPicPr>
          <p:cNvPr id="6" name="Picture 5" descr="server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↔ controller：也是協商（broker 對 controller 當 client：heartbeat / registration）</a:t>
            </a:r>
          </a:p>
        </p:txBody>
      </p:sp>
      <p:pic>
        <p:nvPicPr>
          <p:cNvPr id="8" name="Picture 7" descr="databa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broker ↔ broker 複製：Fetch 由 MV 直接 pin、ListOffsets 以 MV 為上限、OffsetsForLeaderEpoch 寫死 v4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111496"/>
            <a:ext cx="10972800" cy="877824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MV 角色其實很窄：只影響複製的 Fetch / ListOffsets（ListOffsets＝把時間戳／earliest/latest 換成 offset）；其餘多半是協商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MetadataVersion.java:31 javadoc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6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7"/>
              </a:rPr>
              <a:t>SimpleBuilder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由 finalized metadata.version 決定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replica fetch（broker↔broker）的 Fetch 版本怎麼決定？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兩 broker ApiVersions 協商取交集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由 finalized metadata.version 決定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永遠用最新版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controller 每次指定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fetchRequestVersion(MV)：MV 是集中共識，不做 per-connection 協商。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RemoteLeaderEndPoint.scala:215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MetadataVersion.java:273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3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通訊當下協商不出版本，會看到什麼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1371600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交集空        → client 端 UnsupportedVersionException（送出前 abort）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繞過協商自刻  → broker 丟 UnsupportedVersionException + 關線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（ApiVersions 例外：回 v0 + UNSUPPORTED_VERSION 錯誤碼）</a:t>
            </a:r>
          </a:p>
        </p:txBody>
      </p:sp>
      <p:pic>
        <p:nvPicPr>
          <p:cNvPr id="5" name="Picture 4" descr="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749040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78992" y="3721608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多數情況 client 在送出前就本地中止，根本沒上網路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latestUsableVersion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4"/>
              </a:rPr>
              <a:t>NetworkClient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5"/>
              </a:rPr>
              <a:t>RequestContext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Part 3 · 失敗訊息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版本截斷：為什麼「升一點點」不夠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10972800" cy="822959"/>
          </a:xfrm>
          <a:prstGeom prst="rect">
            <a:avLst/>
          </a:prstGeom>
          <a:solidFill>
            <a:srgbClr val="F3F1EC"/>
          </a:solidFill>
          <a:ln w="6350">
            <a:solidFill>
              <a:srgbClr val="E3E0D8"/>
            </a:solidFill>
          </a:ln>
        </p:spPr>
        <p:txBody>
          <a:bodyPr wrap="square" lIns="146304" tIns="91440" bIns="91440">
            <a:noAutofit/>
          </a:bodyPr>
          <a:lstStyle/>
          <a:p>
            <a:r>
              <a:rPr sz="1350" b="0">
                <a:solidFill>
                  <a:srgbClr val="2C2C2A"/>
                </a:solidFill>
                <a:latin typeface="Calibri"/>
              </a:rPr>
              <a:t>舊 wire API version 被整個移除，min 可 &gt; 0</a:t>
            </a:r>
          </a:p>
          <a:p>
            <a:r>
              <a:rPr sz="1350" b="0">
                <a:solidFill>
                  <a:srgbClr val="2C2C2A"/>
                </a:solidFill>
                <a:latin typeface="Calibri"/>
              </a:rPr>
              <a:t>  Fetch：4–18（v0–3 在 4.0 移除）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72968"/>
            <a:ext cx="10972800" cy="566928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46304" tIns="82296">
            <a:noAutofit/>
          </a:bodyPr>
          <a:lstStyle/>
          <a:p>
            <a:r>
              <a:rPr sz="1500" b="0">
                <a:solidFill>
                  <a:srgbClr val="27500A"/>
                </a:solidFill>
                <a:latin typeface="Calibri"/>
              </a:rPr>
              <a:t>解法：升級前確認兩端都跨過版本下限（升 4.0 需至少 2.1），否則協商結果沒有可用版本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22776"/>
            <a:ext cx="109728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500" b="0">
                <a:solidFill>
                  <a:srgbClr val="5F5E5A"/>
                </a:solidFill>
                <a:latin typeface="Calibri"/>
              </a:rPr>
              <a:t>銜接（非本場）：finalize / 升降當下的錯誤（INVALID_UPDATE_VERSION 等）屬「運行時的版本升降」那場，本場不展開。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upgrade.md:229</a:t>
            </a:r>
            <a:r>
              <a:rPr sz="1200" b="0">
                <a:solidFill>
                  <a:srgbClr val="8A8A8A"/>
                </a:solidFill>
                <a:latin typeface="Calibri"/>
              </a:rPr>
              <a:t>   ·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3"/>
              </a:rPr>
              <a:t>FetchRequest.json validVersions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B.  </a:t>
            </a:r>
            <a:r>
              <a:rPr sz="1600" b="0">
                <a:solidFill>
                  <a:srgbClr val="1E2024"/>
                </a:solidFill>
                <a:latin typeface="Calibri"/>
              </a:rPr>
              <a:t>只有 ApiVersions 例外回錯誤+範圍；其他 API 關線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0">
                <a:solidFill>
                  <a:srgbClr val="8A8A8A"/>
                </a:solidFill>
                <a:latin typeface="Calibri"/>
              </a:rPr>
              <a:t>想一想 —— 下一頁公布答案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隨堂考 · 核心　（正解）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188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2600" b="1">
                <a:solidFill>
                  <a:srgbClr val="1E2024"/>
                </a:solidFill>
                <a:latin typeface="Calibri"/>
              </a:rPr>
              <a:t>自刻 client 送了不支援的 API version，會怎樣？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A.  </a:t>
            </a:r>
            <a:r>
              <a:rPr sz="1600" b="0">
                <a:solidFill>
                  <a:srgbClr val="1E2024"/>
                </a:solidFill>
                <a:latin typeface="Calibri"/>
              </a:rPr>
              <a:t>一律回 UNSUPPORTED_VERSION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53512"/>
            <a:ext cx="10515600" cy="493776"/>
          </a:xfrm>
          <a:prstGeom prst="rect">
            <a:avLst/>
          </a:prstGeom>
          <a:solidFill>
            <a:srgbClr val="E9F3DE"/>
          </a:solidFill>
          <a:ln>
            <a:noFill/>
          </a:ln>
        </p:spPr>
        <p:txBody>
          <a:bodyPr wrap="square" lIns="128016" tIns="54864">
            <a:noAutofit/>
          </a:bodyPr>
          <a:lstStyle/>
          <a:p>
            <a:r>
              <a:rPr sz="1600" b="1">
                <a:solidFill>
                  <a:srgbClr val="27500A"/>
                </a:solidFill>
                <a:latin typeface="Calibri"/>
              </a:rPr>
              <a:t>B.  </a:t>
            </a:r>
            <a:r>
              <a:rPr sz="1600" b="1">
                <a:solidFill>
                  <a:srgbClr val="27500A"/>
                </a:solidFill>
                <a:latin typeface="Calibri"/>
              </a:rPr>
              <a:t>只有 ApiVersions 例外回錯誤+範圍；其他 API 關線   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75304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C.  </a:t>
            </a:r>
            <a:r>
              <a:rPr sz="1600" b="0">
                <a:solidFill>
                  <a:srgbClr val="1E2024"/>
                </a:solidFill>
                <a:latin typeface="Calibri"/>
              </a:rPr>
              <a:t>broker 自動降版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97096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00" b="0">
                <a:solidFill>
                  <a:srgbClr val="1E2024"/>
                </a:solidFill>
                <a:latin typeface="Calibri"/>
              </a:rPr>
              <a:t>D.  </a:t>
            </a:r>
            <a:r>
              <a:rPr sz="1600" b="0">
                <a:solidFill>
                  <a:srgbClr val="1E2024"/>
                </a:solidFill>
                <a:latin typeface="Calibri"/>
              </a:rPr>
              <a:t>忽略版本照跑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10327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400" b="1">
                <a:solidFill>
                  <a:srgbClr val="27500A"/>
                </a:solidFill>
                <a:latin typeface="Calibri"/>
              </a:rPr>
              <a:t>正解 B — </a:t>
            </a:r>
            <a:r>
              <a:rPr sz="1400" b="0">
                <a:solidFill>
                  <a:srgbClr val="1E2024"/>
                </a:solidFill>
                <a:latin typeface="Calibri"/>
              </a:rPr>
              <a:t>ApiVersions 是 bootstrap 逃生口；其他 API → broker 丟 UnsupportedVersionException → 斷線。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10972800" cy="3840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200" b="1">
                <a:solidFill>
                  <a:srgbClr val="8A8A8A"/>
                </a:solidFill>
                <a:latin typeface="Calibri"/>
              </a:rPr>
              <a:t>REF   </a:t>
            </a:r>
            <a:r>
              <a:rPr sz="1200" b="0" u="sng">
                <a:solidFill>
                  <a:srgbClr val="185FA5"/>
                </a:solidFill>
                <a:latin typeface="Courier New"/>
                <a:hlinkClick r:id="rId2"/>
              </a:rPr>
              <a:t>RequestContext.java:112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300" b="1">
                <a:solidFill>
                  <a:srgbClr val="185FA5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41248"/>
            <a:ext cx="10972800" cy="10058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3200" b="1">
                <a:solidFill>
                  <a:srgbClr val="1E2024"/>
                </a:solidFill>
                <a:latin typeface="Calibri"/>
              </a:rPr>
              <a:t>回到開場那個問題</a:t>
            </a:r>
          </a:p>
        </p:txBody>
      </p:sp>
      <p:pic>
        <p:nvPicPr>
          <p:cNvPr id="4" name="Picture 3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176272"/>
            <a:ext cx="274320" cy="274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8992" y="2148840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無法「一個版本打天下」：client 長壽、又不能停機，版本只能在連線當下決定</a:t>
            </a:r>
          </a:p>
        </p:txBody>
      </p:sp>
      <p:pic>
        <p:nvPicPr>
          <p:cNvPr id="6" name="Picture 5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81635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78992" y="2788920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版本分三層（release / metadata.version / wire），各自獨立變動</a:t>
            </a:r>
          </a:p>
        </p:txBody>
      </p:sp>
      <p:pic>
        <p:nvPicPr>
          <p:cNvPr id="8" name="Picture 7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803904"/>
            <a:ext cx="274320" cy="274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78992" y="3776472"/>
            <a:ext cx="10515600" cy="49377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機制看 Builder 自由度：多數協商、複製面才由 MV 決定；三個角色各有分工</a:t>
            </a:r>
          </a:p>
        </p:txBody>
      </p:sp>
      <p:pic>
        <p:nvPicPr>
          <p:cNvPr id="10" name="Picture 9" descr="po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443984"/>
            <a:ext cx="274320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78992" y="4416552"/>
            <a:ext cx="10515600" cy="841248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r>
              <a:rPr sz="1650" b="0">
                <a:solidFill>
                  <a:srgbClr val="1E2024"/>
                </a:solidFill>
                <a:latin typeface="Calibri"/>
              </a:rPr>
              <a:t>通訊失敗多在送出前本地中止（UnsupportedVersionException）；finalize / 升降的錯誤交給運行時那場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