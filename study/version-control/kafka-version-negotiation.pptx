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github.com/apache/kafka/blob/b7b1c0a83d856766390ee0c05e33b63711eee80e/docs/design/protocol.md#L9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hyperlink" Target="https://cwiki.apache.org/confluence/display/KAFKA/KIP-896%3A+Remove+old+client+protocol+API+versions+in+Kafka+4.0" TargetMode="External"/><Relationship Id="rId5" Type="http://schemas.openxmlformats.org/officeDocument/2006/relationships/hyperlink" Target="https://github.com/apache/kafka/blob/b7b1c0a83d856766390ee0c05e33b63711eee80e/docs/design/protocol.md#L94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github.com/apache/kafka/blob/b7b1c0a83d856766390ee0c05e33b63711eee80e/docs/getting-started/zk2kraft.md#L71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cwiki.apache.org/confluence/display/KAFKA/KIP-35+-+Retrieving+protocol+version" TargetMode="External"/><Relationship Id="rId4" Type="http://schemas.openxmlformats.org/officeDocument/2006/relationships/hyperlink" Target="https://github.com/apache/kafka/blob/b7b1c0a83d856766390ee0c05e33b63711eee80e/clients/src/main/java/org/apache/kafka/clients/NodeApiVersions.java#L149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apache/kafka/blob/b7b1c0a83d856766390ee0c05e33b63711eee80e/server-common/src/main/java/org/apache/kafka/server/common/MetadataVersion.java#L273" TargetMode="External"/><Relationship Id="rId4" Type="http://schemas.openxmlformats.org/officeDocument/2006/relationships/hyperlink" Target="https://github.com/apache/kafka/blob/b7b1c0a83d856766390ee0c05e33b63711eee80e/server-common/src/main/java/org/apache/kafka/server/common/MetadataVersion.java#L31" TargetMode="External"/><Relationship Id="rId5" Type="http://schemas.openxmlformats.org/officeDocument/2006/relationships/hyperlink" Target="https://github.com/apache/kafka/blob/b7b1c0a83d856766390ee0c05e33b63711eee80e/core/src/main/scala/kafka/server/RemoteLeaderEndPoint.scala#L215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github.com/apache/kafka/blob/b7b1c0a83d856766390ee0c05e33b63711eee80e/clients/src/main/java/org/apache/kafka/common/requests/FetchRequest.java#L165" TargetMode="External"/><Relationship Id="rId4" Type="http://schemas.openxmlformats.org/officeDocument/2006/relationships/hyperlink" Target="https://github.com/apache/kafka/blob/b7b1c0a83d856766390ee0c05e33b63711eee80e/server-common/src/main/java/org/apache/kafka/server/common/MetadataVersion.java#L273" TargetMode="External"/><Relationship Id="rId5" Type="http://schemas.openxmlformats.org/officeDocument/2006/relationships/hyperlink" Target="https://github.com/apache/kafka/blob/b7b1c0a83d856766390ee0c05e33b63711eee80e/clients/src/main/resources/common/message/FetchRequest.json#L6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kafka/blob/b7b1c0a83d856766390ee0c05e33b63711eee80e/core/src/main/scala/kafka/server/RemoteLeaderEndPoint.scala#L215" TargetMode="External"/><Relationship Id="rId3" Type="http://schemas.openxmlformats.org/officeDocument/2006/relationships/hyperlink" Target="https://github.com/apache/kafka/blob/b7b1c0a83d856766390ee0c05e33b63711eee80e/server-common/src/main/java/org/apache/kafka/server/common/MetadataVersion.java#L273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github.com/apache/kafka/blob/b7b1c0a83d856766390ee0c05e33b63711eee80e/clients/src/main/java/org/apache/kafka/clients/NodeApiVersions.java#L149" TargetMode="External"/><Relationship Id="rId4" Type="http://schemas.openxmlformats.org/officeDocument/2006/relationships/hyperlink" Target="https://github.com/apache/kafka/blob/b7b1c0a83d856766390ee0c05e33b63711eee80e/clients/src/main/java/org/apache/kafka/clients/NetworkClient.java#L591" TargetMode="External"/><Relationship Id="rId5" Type="http://schemas.openxmlformats.org/officeDocument/2006/relationships/hyperlink" Target="https://github.com/apache/kafka/blob/b7b1c0a83d856766390ee0c05e33b63711eee80e/clients/src/main/java/org/apache/kafka/common/requests/RequestContext.java#L112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kafka/blob/b7b1c0a83d856766390ee0c05e33b63711eee80e/docs/getting-started/upgrade.md#L229" TargetMode="External"/><Relationship Id="rId3" Type="http://schemas.openxmlformats.org/officeDocument/2006/relationships/hyperlink" Target="https://github.com/apache/kafka/blob/b7b1c0a83d856766390ee0c05e33b63711eee80e/clients/src/main/resources/common/message/FetchRequest.json#L61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kafka/blob/b7b1c0a83d856766390ee0c05e33b63711eee80e/clients/src/main/java/org/apache/kafka/common/requests/RequestContext.java#L112" TargetMode="External"/><Relationship Id="rId3" Type="http://schemas.openxmlformats.org/officeDocument/2006/relationships/hyperlink" Target="https://github.com/apache/kafka/blob/b7b1c0a83d856766390ee0c05e33b63711eee80e/core/src/main/scala/kafka/network/SocketServer.scala#L781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95728"/>
            <a:ext cx="91440" cy="137160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332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85FA5"/>
                </a:solidFill>
                <a:latin typeface="Calibri"/>
              </a:rPr>
              <a:t>幾萬個節點之上的版本控制 · 第三場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33272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600" b="1">
                <a:solidFill>
                  <a:srgbClr val="1E2024"/>
                </a:solidFill>
                <a:latin typeface="Calibri"/>
              </a:rPr>
              <a:t>溝通當下的版本選擇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332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0">
                <a:solidFill>
                  <a:srgbClr val="5F5E5A"/>
                </a:solidFill>
                <a:latin typeface="Calibri"/>
              </a:rPr>
              <a:t>長壽的 client、滾動升級的 broker，怎麼喬出共同版本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80760"/>
            <a:ext cx="10332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8A8A8A"/>
                </a:solidFill>
                <a:latin typeface="Calibri"/>
              </a:rPr>
              <a:t>Eric Chang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本場大綱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1E2024"/>
                </a:solidFill>
                <a:latin typeface="Calibri"/>
              </a:rPr>
              <a:t>兩段，加 2 題隨堂考穿插</a:t>
            </a:r>
          </a:p>
        </p:txBody>
      </p:sp>
      <p:pic>
        <p:nvPicPr>
          <p:cNvPr id="4" name="Picture 3" descr="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76272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" y="2148840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50" b="0">
                <a:solidFill>
                  <a:srgbClr val="1E2024"/>
                </a:solidFill>
                <a:latin typeface="Calibri"/>
              </a:rPr>
              <a:t>Part 1 — 版本為何要在連線當下協商、又是怎麼選的</a:t>
            </a:r>
          </a:p>
        </p:txBody>
      </p:sp>
      <p:pic>
        <p:nvPicPr>
          <p:cNvPr id="6" name="Picture 5" descr="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816352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" y="2788920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50" b="0">
                <a:solidFill>
                  <a:srgbClr val="1E2024"/>
                </a:solidFill>
                <a:latin typeface="Calibri"/>
              </a:rPr>
              <a:t>Part 2 — 協商失敗時，會看到什麼訊息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9728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5F5E5A"/>
                </a:solidFill>
                <a:latin typeface="Calibri"/>
              </a:rPr>
              <a:t>結尾會用一頁 Recap 把兩段串回開場那個問題。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點題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1E2024"/>
                </a:solidFill>
                <a:latin typeface="Calibri"/>
              </a:rPr>
              <a:t>為什麼不「一個版本打天下」？</a:t>
            </a:r>
          </a:p>
        </p:txBody>
      </p:sp>
      <p:pic>
        <p:nvPicPr>
          <p:cNvPr id="4" name="Picture 3" descr="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76272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" y="2148840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50" b="0">
                <a:solidFill>
                  <a:srgbClr val="1E2024"/>
                </a:solidFill>
                <a:latin typeface="Calibri"/>
              </a:rPr>
              <a:t>初學者常有的直覺：client 與 broker 使用同一個版本，升級時一併更新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972800" cy="548640"/>
          </a:xfrm>
          <a:prstGeom prst="rect">
            <a:avLst/>
          </a:prstGeom>
          <a:solidFill>
            <a:srgbClr val="F3F1EC"/>
          </a:solidFill>
          <a:ln w="6350">
            <a:solidFill>
              <a:srgbClr val="E3E0D8"/>
            </a:solidFill>
          </a:ln>
        </p:spPr>
        <p:txBody>
          <a:bodyPr wrap="square" lIns="146304" tIns="91440" bIns="91440">
            <a:noAutofit/>
          </a:bodyPr>
          <a:lstStyle/>
          <a:p>
            <a:r>
              <a:rPr sz="1350" b="0">
                <a:solidFill>
                  <a:srgbClr val="2C2C2A"/>
                </a:solidFill>
                <a:latin typeface="Calibri"/>
              </a:rPr>
              <a:t>想像中：  client v4.1 ─────── broker v4.1</a:t>
            </a:r>
          </a:p>
        </p:txBody>
      </p:sp>
      <p:pic>
        <p:nvPicPr>
          <p:cNvPr id="7" name="Picture 6" descr="help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66160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" y="3538728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50" b="0">
                <a:solidFill>
                  <a:srgbClr val="1E2024"/>
                </a:solidFill>
                <a:latin typeface="Calibri"/>
              </a:rPr>
              <a:t>但只要叢集達到一定規模，這個假設就不再成立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8A8A8A"/>
                </a:solidFill>
                <a:latin typeface="Calibri"/>
              </a:rPr>
              <a:t>REF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4"/>
              </a:rPr>
              <a:t>protocol.md:94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Part 1 · 動機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1E2024"/>
                </a:solidFill>
                <a:latin typeface="Calibri"/>
              </a:rPr>
              <a:t>為什麼版本天生對不齊，只能連線當下協商</a:t>
            </a:r>
          </a:p>
        </p:txBody>
      </p:sp>
      <p:pic>
        <p:nvPicPr>
          <p:cNvPr id="4" name="Picture 3" descr="clock-hour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76272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" y="2148840"/>
            <a:ext cx="10515600" cy="8412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50" b="0">
                <a:solidFill>
                  <a:srgbClr val="1E2024"/>
                </a:solidFill>
                <a:latin typeface="Calibri"/>
              </a:rPr>
              <a:t>client 內嵌在各 app、長期不更新（Kafka 曾為舊 client 保留每個 protocol 版本近九年，4.0／KIP-896 才把下限提到 2.1）</a:t>
            </a:r>
          </a:p>
        </p:txBody>
      </p:sp>
      <p:pic>
        <p:nvPicPr>
          <p:cNvPr id="6" name="Picture 5" descr="server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63824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" y="3136392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50" b="0">
                <a:solidFill>
                  <a:srgbClr val="1E2024"/>
                </a:solidFill>
                <a:latin typeface="Calibri"/>
              </a:rPr>
              <a:t>broker 逐台滾動升級，過程必然新舊並存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76472"/>
            <a:ext cx="10972800" cy="1097280"/>
          </a:xfrm>
          <a:prstGeom prst="rect">
            <a:avLst/>
          </a:prstGeom>
          <a:solidFill>
            <a:srgbClr val="F3F1EC"/>
          </a:solidFill>
          <a:ln w="6350">
            <a:solidFill>
              <a:srgbClr val="E3E0D8"/>
            </a:solidFill>
          </a:ln>
        </p:spPr>
        <p:txBody>
          <a:bodyPr wrap="square" lIns="146304" tIns="91440" bIns="91440">
            <a:noAutofit/>
          </a:bodyPr>
          <a:lstStyle/>
          <a:p>
            <a:r>
              <a:rPr sz="1350" b="0">
                <a:solidFill>
                  <a:srgbClr val="2C2C2A"/>
                </a:solidFill>
                <a:latin typeface="Calibri"/>
              </a:rPr>
              <a:t>任一時刻：不同節點能力／版本不同</a:t>
            </a:r>
          </a:p>
          <a:p>
            <a:r>
              <a:rPr sz="1350" b="0">
                <a:solidFill>
                  <a:srgbClr val="2C2C2A"/>
                </a:solidFill>
                <a:latin typeface="Calibri"/>
              </a:rPr>
              <a:t>        → 不能鎖全叢集同一版（又要不停機）</a:t>
            </a:r>
          </a:p>
          <a:p>
            <a:r>
              <a:rPr sz="1350" b="0">
                <a:solidFill>
                  <a:srgbClr val="2C2C2A"/>
                </a:solidFill>
                <a:latin typeface="Calibri"/>
              </a:rPr>
              <a:t>        → 只能在「連線當下」協商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972800" cy="566928"/>
          </a:xfrm>
          <a:prstGeom prst="rect">
            <a:avLst/>
          </a:prstGeom>
          <a:solidFill>
            <a:srgbClr val="E9F3DE"/>
          </a:solidFill>
          <a:ln>
            <a:noFill/>
          </a:ln>
        </p:spPr>
        <p:txBody>
          <a:bodyPr wrap="square" lIns="146304" tIns="82296">
            <a:noAutofit/>
          </a:bodyPr>
          <a:lstStyle/>
          <a:p>
            <a:r>
              <a:rPr sz="1500" b="0">
                <a:solidFill>
                  <a:srgbClr val="27500A"/>
                </a:solidFill>
                <a:latin typeface="Calibri"/>
              </a:rPr>
              <a:t>這就是本場主題「溝通當下的版本選擇」的由來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8A8A8A"/>
                </a:solidFill>
                <a:latin typeface="Calibri"/>
              </a:rPr>
              <a:t>REF   </a:t>
            </a:r>
            <a:r>
              <a:rPr sz="1200" b="0" u="sng">
                <a:solidFill>
                  <a:srgbClr val="185FA5"/>
                </a:solidFill>
                <a:latin typeface="Calibri"/>
                <a:hlinkClick r:id="rId4"/>
              </a:rPr>
              <a:t>KIP-896</a:t>
            </a:r>
            <a:r>
              <a:rPr sz="1200" b="0">
                <a:solidFill>
                  <a:srgbClr val="8A8A8A"/>
                </a:solidFill>
                <a:latin typeface="Calibri"/>
              </a:rPr>
              <a:t>   ·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5"/>
              </a:rPr>
              <a:t>protocol.md:94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Part 1 · 術語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1E2024"/>
                </a:solidFill>
                <a:latin typeface="Calibri"/>
              </a:rPr>
              <a:t>講「版本」時，其實是指哪一個？分三層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1097280"/>
          </a:xfrm>
          <a:prstGeom prst="rect">
            <a:avLst/>
          </a:prstGeom>
          <a:solidFill>
            <a:srgbClr val="F3F1EC"/>
          </a:solidFill>
          <a:ln w="6350">
            <a:solidFill>
              <a:srgbClr val="E3E0D8"/>
            </a:solidFill>
          </a:ln>
        </p:spPr>
        <p:txBody>
          <a:bodyPr wrap="square" lIns="146304" tIns="91440" bIns="91440">
            <a:noAutofit/>
          </a:bodyPr>
          <a:lstStyle/>
          <a:p>
            <a:r>
              <a:rPr sz="1350" b="0">
                <a:solidFill>
                  <a:srgbClr val="2C2C2A"/>
                </a:solidFill>
                <a:latin typeface="Calibri"/>
              </a:rPr>
              <a:t>release version   = 我裝了哪版 binary   (per-node)</a:t>
            </a:r>
          </a:p>
          <a:p>
            <a:r>
              <a:rPr sz="1350" b="0">
                <a:solidFill>
                  <a:srgbClr val="2C2C2A"/>
                </a:solidFill>
                <a:latin typeface="Calibri"/>
              </a:rPr>
              <a:t>metadata.version  = 叢集一致的能力世代   (cluster-wide, finalized)</a:t>
            </a:r>
          </a:p>
          <a:p>
            <a:r>
              <a:rPr sz="1350" b="0">
                <a:solidFill>
                  <a:srgbClr val="2C2C2A"/>
                </a:solidFill>
                <a:latin typeface="Calibri"/>
              </a:rPr>
              <a:t>wire API version  = 這條連線講第幾版     (per-connection)</a:t>
            </a:r>
          </a:p>
        </p:txBody>
      </p:sp>
      <p:pic>
        <p:nvPicPr>
          <p:cNvPr id="5" name="Picture 4" descr="arrows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" y="3447288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50" b="0">
                <a:solidFill>
                  <a:srgbClr val="1E2024"/>
                </a:solidFill>
                <a:latin typeface="Calibri"/>
              </a:rPr>
              <a:t>三個獨立的軸、各自變動；後面提到「版本」都要先分清楚是哪一層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87368"/>
            <a:ext cx="109728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5F5E5A"/>
                </a:solidFill>
                <a:latin typeface="Calibri"/>
              </a:rPr>
              <a:t>finalize＝管理員手動宣告「全叢集從此認定這個能力世代」；怎麼宣告是第一場《版本定義》的主題，本場只需知道它是叢集共識的一個值。本場主角是 wire 版本。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8A8A8A"/>
                </a:solidFill>
                <a:latin typeface="Calibri"/>
              </a:rPr>
              <a:t>REF   </a:t>
            </a:r>
            <a:r>
              <a:rPr sz="1200" b="0">
                <a:solidFill>
                  <a:srgbClr val="8A8A8A"/>
                </a:solidFill>
                <a:latin typeface="Calibri"/>
              </a:rPr>
              <a:t>kafka-features describe</a:t>
            </a:r>
            <a:r>
              <a:rPr sz="1200" b="0">
                <a:solidFill>
                  <a:srgbClr val="8A8A8A"/>
                </a:solidFill>
                <a:latin typeface="Calibri"/>
              </a:rPr>
              <a:t>   ·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3"/>
              </a:rPr>
              <a:t>zk2kraft.md:71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Part 1 · 架構 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1E2024"/>
                </a:solidFill>
                <a:latin typeface="Calibri"/>
              </a:rPr>
              <a:t>三種連線，都先做 ApiVersions 握手</a:t>
            </a:r>
          </a:p>
        </p:txBody>
      </p:sp>
      <p:pic>
        <p:nvPicPr>
          <p:cNvPr id="4" name="Picture 3" descr="arrows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76272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" y="2148840"/>
            <a:ext cx="10515600" cy="8412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50" b="0">
                <a:solidFill>
                  <a:srgbClr val="1E2024"/>
                </a:solidFill>
                <a:latin typeface="Calibri"/>
              </a:rPr>
              <a:t>連線建立後，發起端先送一支 ApiVersions：問對方「你每支 API 支援哪個版本區間？」（KIP-35）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36392"/>
            <a:ext cx="10972800" cy="1097280"/>
          </a:xfrm>
          <a:prstGeom prst="rect">
            <a:avLst/>
          </a:prstGeom>
          <a:solidFill>
            <a:srgbClr val="F3F1EC"/>
          </a:solidFill>
          <a:ln w="6350">
            <a:solidFill>
              <a:srgbClr val="E3E0D8"/>
            </a:solidFill>
          </a:ln>
        </p:spPr>
        <p:txBody>
          <a:bodyPr wrap="square" lIns="146304" tIns="91440" bIns="91440">
            <a:noAutofit/>
          </a:bodyPr>
          <a:lstStyle/>
          <a:p>
            <a:r>
              <a:rPr sz="1350" b="0">
                <a:solidFill>
                  <a:srgbClr val="2C2C2A"/>
                </a:solidFill>
                <a:latin typeface="Calibri"/>
              </a:rPr>
              <a:t>client ─▶ broker        讀寫資料、查 metadata…</a:t>
            </a:r>
          </a:p>
          <a:p>
            <a:r>
              <a:rPr sz="1350" b="0">
                <a:solidFill>
                  <a:srgbClr val="2C2C2A"/>
                </a:solidFill>
                <a:latin typeface="Calibri"/>
              </a:rPr>
              <a:t>broker ─▶ controller    註冊、心跳、轉發 admin…</a:t>
            </a:r>
          </a:p>
          <a:p>
            <a:r>
              <a:rPr sz="1350" b="0">
                <a:solidFill>
                  <a:srgbClr val="2C2C2A"/>
                </a:solidFill>
                <a:latin typeface="Calibri"/>
              </a:rPr>
              <a:t>broker ◀▶ broker        複製（follower 抓 leader）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9728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5F5E5A"/>
                </a:solidFill>
                <a:latin typeface="Calibri"/>
              </a:rPr>
              <a:t>每列只列代表性的幾種、非窮舉；重點是三條線都先做這個握手。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8A8A8A"/>
                </a:solidFill>
                <a:latin typeface="Calibri"/>
              </a:rPr>
              <a:t>REF   </a:t>
            </a:r>
            <a:r>
              <a:rPr sz="1200" b="0" u="sng">
                <a:solidFill>
                  <a:srgbClr val="185FA5"/>
                </a:solidFill>
                <a:latin typeface="Calibri"/>
                <a:hlinkClick r:id="rId3"/>
              </a:rPr>
              <a:t>KIP-35</a:t>
            </a:r>
            <a:r>
              <a:rPr sz="1200" b="0">
                <a:solidFill>
                  <a:srgbClr val="8A8A8A"/>
                </a:solidFill>
                <a:latin typeface="Calibri"/>
              </a:rPr>
              <a:t>   ·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4"/>
              </a:rPr>
              <a:t>latestUsableVersion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Part 1 · 架構 (b)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1E2024"/>
                </a:solidFill>
                <a:latin typeface="Calibri"/>
              </a:rPr>
              <a:t>握手之後，最終版本誰說了算？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1097280"/>
          </a:xfrm>
          <a:prstGeom prst="rect">
            <a:avLst/>
          </a:prstGeom>
          <a:solidFill>
            <a:srgbClr val="F3F1EC"/>
          </a:solidFill>
          <a:ln w="6350">
            <a:solidFill>
              <a:srgbClr val="E3E0D8"/>
            </a:solidFill>
          </a:ln>
        </p:spPr>
        <p:txBody>
          <a:bodyPr wrap="square" lIns="146304" tIns="91440" bIns="91440">
            <a:noAutofit/>
          </a:bodyPr>
          <a:lstStyle/>
          <a:p>
            <a:r>
              <a:rPr sz="1350" b="0">
                <a:solidFill>
                  <a:srgbClr val="2C2C2A"/>
                </a:solidFill>
                <a:latin typeface="Calibri"/>
              </a:rPr>
              <a:t>client ↔ broker       協商，取交集最高</a:t>
            </a:r>
          </a:p>
          <a:p>
            <a:r>
              <a:rPr sz="1350" b="0">
                <a:solidFill>
                  <a:srgbClr val="2C2C2A"/>
                </a:solidFill>
                <a:latin typeface="Calibri"/>
              </a:rPr>
              <a:t>broker ↔ controller   也協商（broker 當 client）</a:t>
            </a:r>
          </a:p>
          <a:p>
            <a:r>
              <a:rPr sz="1350" b="0">
                <a:solidFill>
                  <a:srgbClr val="2C2C2A"/>
                </a:solidFill>
                <a:latin typeface="Calibri"/>
              </a:rPr>
              <a:t>broker ↔ broker 複製   不協商——由 finalized MV 決定</a:t>
            </a:r>
          </a:p>
        </p:txBody>
      </p:sp>
      <p:pic>
        <p:nvPicPr>
          <p:cNvPr id="5" name="Picture 4" descr="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" y="3447288"/>
            <a:ext cx="10515600" cy="8412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50" b="0">
                <a:solidFill>
                  <a:srgbClr val="1E2024"/>
                </a:solidFill>
                <a:latin typeface="Calibri"/>
              </a:rPr>
              <a:t>決定權在「組出這支 request 的程式碼」宣告的允許版本範圍：留全範圍就走協商、被指成 MV 對應的單一版本就不協商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972800" cy="877824"/>
          </a:xfrm>
          <a:prstGeom prst="rect">
            <a:avLst/>
          </a:prstGeom>
          <a:solidFill>
            <a:srgbClr val="E9F3DE"/>
          </a:solidFill>
          <a:ln>
            <a:noFill/>
          </a:ln>
        </p:spPr>
        <p:txBody>
          <a:bodyPr wrap="square" lIns="146304" tIns="82296">
            <a:noAutofit/>
          </a:bodyPr>
          <a:lstStyle/>
          <a:p>
            <a:r>
              <a:rPr sz="1500" b="0">
                <a:solidFill>
                  <a:srgbClr val="27500A"/>
                </a:solidFill>
                <a:latin typeface="Calibri"/>
              </a:rPr>
              <a:t>為什麼複製面例外？複製要求所有 follower↔leader 講同一版，才交給 finalized MV 集中決定；其餘連線點對點，各自挑最好版即可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95544"/>
            <a:ext cx="1097280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5F5E5A"/>
                </a:solidFill>
                <a:latin typeface="Calibri"/>
              </a:rPr>
              <a:t>更細的差異（ListOffsets 以 MV 為上限等）見 blog 附錄，此處不展開。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8A8A8A"/>
                </a:solidFill>
                <a:latin typeface="Calibri"/>
              </a:rPr>
              <a:t>REF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3"/>
              </a:rPr>
              <a:t>fetchRequestVersion</a:t>
            </a:r>
            <a:r>
              <a:rPr sz="1200" b="0">
                <a:solidFill>
                  <a:srgbClr val="8A8A8A"/>
                </a:solidFill>
                <a:latin typeface="Calibri"/>
              </a:rPr>
              <a:t>   ·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4"/>
              </a:rPr>
              <a:t>javadoc</a:t>
            </a:r>
            <a:r>
              <a:rPr sz="1200" b="0">
                <a:solidFill>
                  <a:srgbClr val="8A8A8A"/>
                </a:solidFill>
                <a:latin typeface="Calibri"/>
              </a:rPr>
              <a:t>   ·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5"/>
              </a:rPr>
              <a:t>RemoteLeaderEndPoint.scala:215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Part 1 · 舉例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1E2024"/>
                </a:solidFill>
                <a:latin typeface="Calibri"/>
              </a:rPr>
              <a:t>以一支 Fetch 為例：consumer 協商、replica 由 MV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F5E5A"/>
                </a:solidFill>
                <a:latin typeface="Calibri"/>
              </a:rPr>
              <a:t>同一支 Fetch 兩種身分：consumer fetch 走 client↔broker、replica fetch 走 broker↔broker</a:t>
            </a:r>
          </a:p>
        </p:txBody>
      </p:sp>
      <p:pic>
        <p:nvPicPr>
          <p:cNvPr id="5" name="Picture 4" descr="s2a-rang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1965960"/>
            <a:ext cx="8869680" cy="40936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8A8A8A"/>
                </a:solidFill>
                <a:latin typeface="Calibri"/>
              </a:rPr>
              <a:t>REF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3"/>
              </a:rPr>
              <a:t>forConsumer/forReplica</a:t>
            </a:r>
            <a:r>
              <a:rPr sz="1200" b="0">
                <a:solidFill>
                  <a:srgbClr val="8A8A8A"/>
                </a:solidFill>
                <a:latin typeface="Calibri"/>
              </a:rPr>
              <a:t>   ·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4"/>
              </a:rPr>
              <a:t>fetchRequestVersion</a:t>
            </a:r>
            <a:r>
              <a:rPr sz="1200" b="0">
                <a:solidFill>
                  <a:srgbClr val="8A8A8A"/>
                </a:solidFill>
                <a:latin typeface="Calibri"/>
              </a:rPr>
              <a:t>   ·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5"/>
              </a:rPr>
              <a:t>validVersions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隨堂考 · 核心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1">
                <a:solidFill>
                  <a:srgbClr val="1E2024"/>
                </a:solidFill>
                <a:latin typeface="Calibri"/>
              </a:rPr>
              <a:t>replica fetch（broker↔broker）的 Fetch 版本怎麼決定？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A.  </a:t>
            </a:r>
            <a:r>
              <a:rPr sz="1600" b="0">
                <a:solidFill>
                  <a:srgbClr val="1E2024"/>
                </a:solidFill>
                <a:latin typeface="Calibri"/>
              </a:rPr>
              <a:t>兩 broker ApiVersions 協商取交集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53512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B.  </a:t>
            </a:r>
            <a:r>
              <a:rPr sz="1600" b="0">
                <a:solidFill>
                  <a:srgbClr val="1E2024"/>
                </a:solidFill>
                <a:latin typeface="Calibri"/>
              </a:rPr>
              <a:t>由 finalized metadata.version 決定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75304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C.  </a:t>
            </a:r>
            <a:r>
              <a:rPr sz="1600" b="0">
                <a:solidFill>
                  <a:srgbClr val="1E2024"/>
                </a:solidFill>
                <a:latin typeface="Calibri"/>
              </a:rPr>
              <a:t>永遠用最新版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97096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D.  </a:t>
            </a:r>
            <a:r>
              <a:rPr sz="1600" b="0">
                <a:solidFill>
                  <a:srgbClr val="1E2024"/>
                </a:solidFill>
                <a:latin typeface="Calibri"/>
              </a:rPr>
              <a:t>controller 每次指定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10327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8A8A8A"/>
                </a:solidFill>
                <a:latin typeface="Calibri"/>
              </a:rPr>
              <a:t>想一想 —— 下一頁公布答案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隨堂考 · 核心　（正解）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1">
                <a:solidFill>
                  <a:srgbClr val="1E2024"/>
                </a:solidFill>
                <a:latin typeface="Calibri"/>
              </a:rPr>
              <a:t>replica fetch（broker↔broker）的 Fetch 版本怎麼決定？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A.  </a:t>
            </a:r>
            <a:r>
              <a:rPr sz="1600" b="0">
                <a:solidFill>
                  <a:srgbClr val="1E2024"/>
                </a:solidFill>
                <a:latin typeface="Calibri"/>
              </a:rPr>
              <a:t>兩 broker ApiVersions 協商取交集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53512"/>
            <a:ext cx="10515600" cy="493776"/>
          </a:xfrm>
          <a:prstGeom prst="rect">
            <a:avLst/>
          </a:prstGeom>
          <a:solidFill>
            <a:srgbClr val="E9F3DE"/>
          </a:solidFill>
          <a:ln>
            <a:noFill/>
          </a:ln>
        </p:spPr>
        <p:txBody>
          <a:bodyPr wrap="square" lIns="128016" tIns="54864">
            <a:noAutofit/>
          </a:bodyPr>
          <a:lstStyle/>
          <a:p>
            <a:r>
              <a:rPr sz="1600" b="1">
                <a:solidFill>
                  <a:srgbClr val="27500A"/>
                </a:solidFill>
                <a:latin typeface="Calibri"/>
              </a:rPr>
              <a:t>B.  </a:t>
            </a:r>
            <a:r>
              <a:rPr sz="1600" b="1">
                <a:solidFill>
                  <a:srgbClr val="27500A"/>
                </a:solidFill>
                <a:latin typeface="Calibri"/>
              </a:rPr>
              <a:t>由 finalized metadata.version 決定  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75304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C.  </a:t>
            </a:r>
            <a:r>
              <a:rPr sz="1600" b="0">
                <a:solidFill>
                  <a:srgbClr val="1E2024"/>
                </a:solidFill>
                <a:latin typeface="Calibri"/>
              </a:rPr>
              <a:t>永遠用最新版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97096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D.  </a:t>
            </a:r>
            <a:r>
              <a:rPr sz="1600" b="0">
                <a:solidFill>
                  <a:srgbClr val="1E2024"/>
                </a:solidFill>
                <a:latin typeface="Calibri"/>
              </a:rPr>
              <a:t>controller 每次指定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10327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27500A"/>
                </a:solidFill>
                <a:latin typeface="Calibri"/>
              </a:rPr>
              <a:t>正解 B — </a:t>
            </a:r>
            <a:r>
              <a:rPr sz="1400" b="0">
                <a:solidFill>
                  <a:srgbClr val="1E2024"/>
                </a:solidFill>
                <a:latin typeface="Calibri"/>
              </a:rPr>
              <a:t>fetchRequestVersion(MV)：MV 是集中共識，不做 per-connection 協商。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8A8A8A"/>
                </a:solidFill>
                <a:latin typeface="Calibri"/>
              </a:rPr>
              <a:t>REF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2"/>
              </a:rPr>
              <a:t>RemoteLeaderEndPoint.scala:215</a:t>
            </a:r>
            <a:r>
              <a:rPr sz="1200" b="0">
                <a:solidFill>
                  <a:srgbClr val="8A8A8A"/>
                </a:solidFill>
                <a:latin typeface="Calibri"/>
              </a:rPr>
              <a:t>   ·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3"/>
              </a:rPr>
              <a:t>MetadataVersion.java:273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Part 2 · 失敗訊息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1E2024"/>
                </a:solidFill>
                <a:latin typeface="Calibri"/>
              </a:rPr>
              <a:t>通訊當下協商不出版本，會看到什麼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1371600"/>
          </a:xfrm>
          <a:prstGeom prst="rect">
            <a:avLst/>
          </a:prstGeom>
          <a:solidFill>
            <a:srgbClr val="F3F1EC"/>
          </a:solidFill>
          <a:ln w="6350">
            <a:solidFill>
              <a:srgbClr val="E3E0D8"/>
            </a:solidFill>
          </a:ln>
        </p:spPr>
        <p:txBody>
          <a:bodyPr wrap="square" lIns="146304" tIns="91440" bIns="91440">
            <a:noAutofit/>
          </a:bodyPr>
          <a:lstStyle/>
          <a:p>
            <a:r>
              <a:rPr sz="1350" b="0">
                <a:solidFill>
                  <a:srgbClr val="2C2C2A"/>
                </a:solidFill>
                <a:latin typeface="Calibri"/>
              </a:rPr>
              <a:t>交集空        → client 端 UnsupportedVersionException（送出前 abort）</a:t>
            </a:r>
          </a:p>
          <a:p>
            <a:r>
              <a:rPr sz="1350" b="0">
                <a:solidFill>
                  <a:srgbClr val="2C2C2A"/>
                </a:solidFill>
                <a:latin typeface="Calibri"/>
              </a:rPr>
              <a:t>繞過協商自刻  → broker 丟 UnsupportedVersionException + 關線</a:t>
            </a:r>
          </a:p>
          <a:p>
            <a:r>
              <a:rPr sz="1350" b="0">
                <a:solidFill>
                  <a:srgbClr val="2C2C2A"/>
                </a:solidFill>
                <a:latin typeface="Calibri"/>
              </a:rPr>
              <a:t>（ApiVersions 例外：回 v0 + UNSUPPORTED_VERSION 錯誤碼）</a:t>
            </a:r>
          </a:p>
        </p:txBody>
      </p:sp>
      <p:pic>
        <p:nvPicPr>
          <p:cNvPr id="5" name="Picture 4" descr="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74904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" y="3721608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50" b="0">
                <a:solidFill>
                  <a:srgbClr val="1E2024"/>
                </a:solidFill>
                <a:latin typeface="Calibri"/>
              </a:rPr>
              <a:t>多數情況 client 在送出前就本地中止，根本沒上網路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8A8A8A"/>
                </a:solidFill>
                <a:latin typeface="Calibri"/>
              </a:rPr>
              <a:t>REF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3"/>
              </a:rPr>
              <a:t>latestUsableVersion</a:t>
            </a:r>
            <a:r>
              <a:rPr sz="1200" b="0">
                <a:solidFill>
                  <a:srgbClr val="8A8A8A"/>
                </a:solidFill>
                <a:latin typeface="Calibri"/>
              </a:rPr>
              <a:t>   ·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4"/>
              </a:rPr>
              <a:t>NetworkClient</a:t>
            </a:r>
            <a:r>
              <a:rPr sz="1200" b="0">
                <a:solidFill>
                  <a:srgbClr val="8A8A8A"/>
                </a:solidFill>
                <a:latin typeface="Calibri"/>
              </a:rPr>
              <a:t>   ·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5"/>
              </a:rPr>
              <a:t>RequestContext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Part 2 · 失敗訊息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1E2024"/>
                </a:solidFill>
                <a:latin typeface="Calibri"/>
              </a:rPr>
              <a:t>版本截斷：為什麼「升一點點」不夠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822959"/>
          </a:xfrm>
          <a:prstGeom prst="rect">
            <a:avLst/>
          </a:prstGeom>
          <a:solidFill>
            <a:srgbClr val="F3F1EC"/>
          </a:solidFill>
          <a:ln w="6350">
            <a:solidFill>
              <a:srgbClr val="E3E0D8"/>
            </a:solidFill>
          </a:ln>
        </p:spPr>
        <p:txBody>
          <a:bodyPr wrap="square" lIns="146304" tIns="91440" bIns="91440">
            <a:noAutofit/>
          </a:bodyPr>
          <a:lstStyle/>
          <a:p>
            <a:r>
              <a:rPr sz="1350" b="0">
                <a:solidFill>
                  <a:srgbClr val="2C2C2A"/>
                </a:solidFill>
                <a:latin typeface="Calibri"/>
              </a:rPr>
              <a:t>舊 wire API version 被整個移除，min 可 &gt; 0</a:t>
            </a:r>
          </a:p>
          <a:p>
            <a:r>
              <a:rPr sz="1350" b="0">
                <a:solidFill>
                  <a:srgbClr val="2C2C2A"/>
                </a:solidFill>
                <a:latin typeface="Calibri"/>
              </a:rPr>
              <a:t>  Fetch：4–18（v0–3 在 4.0 移除）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72968"/>
            <a:ext cx="10972800" cy="566928"/>
          </a:xfrm>
          <a:prstGeom prst="rect">
            <a:avLst/>
          </a:prstGeom>
          <a:solidFill>
            <a:srgbClr val="E9F3DE"/>
          </a:solidFill>
          <a:ln>
            <a:noFill/>
          </a:ln>
        </p:spPr>
        <p:txBody>
          <a:bodyPr wrap="square" lIns="146304" tIns="82296">
            <a:noAutofit/>
          </a:bodyPr>
          <a:lstStyle/>
          <a:p>
            <a:r>
              <a:rPr sz="1500" b="0">
                <a:solidFill>
                  <a:srgbClr val="27500A"/>
                </a:solidFill>
                <a:latin typeface="Calibri"/>
              </a:rPr>
              <a:t>解法：升級前確認兩端都跨過版本下限（升 4.0 需至少 2.1），否則協商結果沒有可用版本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22776"/>
            <a:ext cx="109728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5F5E5A"/>
                </a:solidFill>
                <a:latin typeface="Calibri"/>
              </a:rPr>
              <a:t>銜接（非本場）：finalize / 升降當下的錯誤（INVALID_UPDATE_VERSION 等）屬「運行時的版本升降」那場，本場不展開。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8A8A8A"/>
                </a:solidFill>
                <a:latin typeface="Calibri"/>
              </a:rPr>
              <a:t>REF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2"/>
              </a:rPr>
              <a:t>upgrade.md:229</a:t>
            </a:r>
            <a:r>
              <a:rPr sz="1200" b="0">
                <a:solidFill>
                  <a:srgbClr val="8A8A8A"/>
                </a:solidFill>
                <a:latin typeface="Calibri"/>
              </a:rPr>
              <a:t>   ·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3"/>
              </a:rPr>
              <a:t>FetchRequest.json validVersions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隨堂考 · 核心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1">
                <a:solidFill>
                  <a:srgbClr val="1E2024"/>
                </a:solidFill>
                <a:latin typeface="Calibri"/>
              </a:rPr>
              <a:t>自刻 client 送了不支援的 API version，會怎樣？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A.  </a:t>
            </a:r>
            <a:r>
              <a:rPr sz="1600" b="0">
                <a:solidFill>
                  <a:srgbClr val="1E2024"/>
                </a:solidFill>
                <a:latin typeface="Calibri"/>
              </a:rPr>
              <a:t>一律回 UNSUPPORTED_VERSION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53512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B.  </a:t>
            </a:r>
            <a:r>
              <a:rPr sz="1600" b="0">
                <a:solidFill>
                  <a:srgbClr val="1E2024"/>
                </a:solidFill>
                <a:latin typeface="Calibri"/>
              </a:rPr>
              <a:t>只有 ApiVersions 例外回錯誤+範圍；其他 API 關線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75304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C.  </a:t>
            </a:r>
            <a:r>
              <a:rPr sz="1600" b="0">
                <a:solidFill>
                  <a:srgbClr val="1E2024"/>
                </a:solidFill>
                <a:latin typeface="Calibri"/>
              </a:rPr>
              <a:t>broker 自動降版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97096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D.  </a:t>
            </a:r>
            <a:r>
              <a:rPr sz="1600" b="0">
                <a:solidFill>
                  <a:srgbClr val="1E2024"/>
                </a:solidFill>
                <a:latin typeface="Calibri"/>
              </a:rPr>
              <a:t>忽略版本照跑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10327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8A8A8A"/>
                </a:solidFill>
                <a:latin typeface="Calibri"/>
              </a:rPr>
              <a:t>想一想 —— 下一頁公布答案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隨堂考 · 核心　（正解）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1">
                <a:solidFill>
                  <a:srgbClr val="1E2024"/>
                </a:solidFill>
                <a:latin typeface="Calibri"/>
              </a:rPr>
              <a:t>自刻 client 送了不支援的 API version，會怎樣？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A.  </a:t>
            </a:r>
            <a:r>
              <a:rPr sz="1600" b="0">
                <a:solidFill>
                  <a:srgbClr val="1E2024"/>
                </a:solidFill>
                <a:latin typeface="Calibri"/>
              </a:rPr>
              <a:t>一律回 UNSUPPORTED_VERSION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53512"/>
            <a:ext cx="10515600" cy="493776"/>
          </a:xfrm>
          <a:prstGeom prst="rect">
            <a:avLst/>
          </a:prstGeom>
          <a:solidFill>
            <a:srgbClr val="E9F3DE"/>
          </a:solidFill>
          <a:ln>
            <a:noFill/>
          </a:ln>
        </p:spPr>
        <p:txBody>
          <a:bodyPr wrap="square" lIns="128016" tIns="54864">
            <a:noAutofit/>
          </a:bodyPr>
          <a:lstStyle/>
          <a:p>
            <a:r>
              <a:rPr sz="1600" b="1">
                <a:solidFill>
                  <a:srgbClr val="27500A"/>
                </a:solidFill>
                <a:latin typeface="Calibri"/>
              </a:rPr>
              <a:t>B.  </a:t>
            </a:r>
            <a:r>
              <a:rPr sz="1600" b="1">
                <a:solidFill>
                  <a:srgbClr val="27500A"/>
                </a:solidFill>
                <a:latin typeface="Calibri"/>
              </a:rPr>
              <a:t>只有 ApiVersions 例外回錯誤+範圍；其他 API 關線  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75304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C.  </a:t>
            </a:r>
            <a:r>
              <a:rPr sz="1600" b="0">
                <a:solidFill>
                  <a:srgbClr val="1E2024"/>
                </a:solidFill>
                <a:latin typeface="Calibri"/>
              </a:rPr>
              <a:t>broker 自動降版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97096"/>
            <a:ext cx="1051560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1E2024"/>
                </a:solidFill>
                <a:latin typeface="Calibri"/>
              </a:rPr>
              <a:t>D.  </a:t>
            </a:r>
            <a:r>
              <a:rPr sz="1600" b="0">
                <a:solidFill>
                  <a:srgbClr val="1E2024"/>
                </a:solidFill>
                <a:latin typeface="Calibri"/>
              </a:rPr>
              <a:t>忽略版本照跑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10327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27500A"/>
                </a:solidFill>
                <a:latin typeface="Calibri"/>
              </a:rPr>
              <a:t>正解 B — </a:t>
            </a:r>
            <a:r>
              <a:rPr sz="1400" b="0">
                <a:solidFill>
                  <a:srgbClr val="1E2024"/>
                </a:solidFill>
                <a:latin typeface="Calibri"/>
              </a:rPr>
              <a:t>ApiVersions 是 bootstrap 逃生口；其他 API 在 RequestContext 解析失敗、broker 丟 UnsupportedVersionException，SocketServer 關閉連線。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8A8A8A"/>
                </a:solidFill>
                <a:latin typeface="Calibri"/>
              </a:rPr>
              <a:t>REF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2"/>
              </a:rPr>
              <a:t>RequestContext.java:112</a:t>
            </a:r>
            <a:r>
              <a:rPr sz="1200" b="0">
                <a:solidFill>
                  <a:srgbClr val="8A8A8A"/>
                </a:solidFill>
                <a:latin typeface="Calibri"/>
              </a:rPr>
              <a:t>   ·   </a:t>
            </a:r>
            <a:r>
              <a:rPr sz="1200" b="0" u="sng">
                <a:solidFill>
                  <a:srgbClr val="185FA5"/>
                </a:solidFill>
                <a:latin typeface="Courier New"/>
                <a:hlinkClick r:id="rId3"/>
              </a:rPr>
              <a:t>SocketServer.scala:781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185FA5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1E2024"/>
                </a:solidFill>
                <a:latin typeface="Calibri"/>
              </a:rPr>
              <a:t>回到開場那個問題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1097280"/>
          </a:xfrm>
          <a:prstGeom prst="rect">
            <a:avLst/>
          </a:prstGeom>
          <a:solidFill>
            <a:srgbClr val="F3F1EC"/>
          </a:solidFill>
          <a:ln w="6350">
            <a:solidFill>
              <a:srgbClr val="E3E0D8"/>
            </a:solidFill>
          </a:ln>
        </p:spPr>
        <p:txBody>
          <a:bodyPr wrap="square" lIns="146304" tIns="91440" bIns="91440">
            <a:noAutofit/>
          </a:bodyPr>
          <a:lstStyle/>
          <a:p>
            <a:r>
              <a:rPr sz="1350" b="0">
                <a:solidFill>
                  <a:srgbClr val="2C2C2A"/>
                </a:solidFill>
                <a:latin typeface="Calibri"/>
              </a:rPr>
              <a:t>想像中：client v4.1 ─── broker v4.1</a:t>
            </a:r>
          </a:p>
          <a:p>
            <a:r>
              <a:rPr sz="1350" b="0">
                <a:solidFill>
                  <a:srgbClr val="2C2C2A"/>
                </a:solidFill>
                <a:latin typeface="Calibri"/>
              </a:rPr>
              <a:t>實際上：同一顆 4.1 broker，同時講 Fetch v11（對老 consumer）和 v17（對 replica）</a:t>
            </a:r>
          </a:p>
        </p:txBody>
      </p:sp>
      <p:pic>
        <p:nvPicPr>
          <p:cNvPr id="5" name="Picture 4" descr="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" y="3447288"/>
            <a:ext cx="10515600" cy="8412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50" b="0">
                <a:solidFill>
                  <a:srgbClr val="1E2024"/>
                </a:solidFill>
                <a:latin typeface="Calibri"/>
              </a:rPr>
              <a:t>Part 1：不能「一個版本打天下」（client 長壽、broker 滾動升級）；三條線多數靠協商，只有複製面由 finalized MV 決定</a:t>
            </a:r>
          </a:p>
        </p:txBody>
      </p:sp>
      <p:pic>
        <p:nvPicPr>
          <p:cNvPr id="7" name="Picture 6" descr="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462272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" y="4434840"/>
            <a:ext cx="10515600" cy="8412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50" b="0">
                <a:solidFill>
                  <a:srgbClr val="1E2024"/>
                </a:solidFill>
                <a:latin typeface="Calibri"/>
              </a:rPr>
              <a:t>Part 2：協商不出版本 → UnsupportedVersionException（多在送出前中止）；finalize／升降的錯誤交給運行時那場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