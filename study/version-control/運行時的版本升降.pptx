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5VMEdrLcsXKjUY8KHo3F15Ynn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7FB158-B852-4FC3-864B-B0771CBACF5C}">
  <a:tblStyle styleId="{B37FB158-B852-4FC3-864B-B0771CBACF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開場:嘉平上一場帶大家「在硬碟上把版本定義好」。他第12、13頁丟了三個指令當預告:describe / upgrade / downgrade,還有一句『並非所有版本都支援降級』。今天就把這三個指令拆開,從工程師/維運角度看裡面發生什麼事。回收上次的梗:小明上次亂升級被開除了;這次我們站在 Kafka 設計者角度,看 Kafka 用了哪些護欄保護小明,以及哪裡護欄還沒蓋好。主軸一句:升 metadata.version 不等於升全部。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這是四場系列。嘉平第一場講『啟動時的版本定義』——format 硬碟時把版本寫死,等於出廠設定。我這場接他第12-13頁的預告,講『運行時』——叢集已經在跑,怎麼用 kafka-features.sh 動態升降。後面 Eric 講溝通(API 版本協商)、博安講儲存(資料的版本宣告)。定位一句:第一場是出廠設定,我這場是線上熱改版。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要動版本,先會看版本。describe 連到叢集,一次列出所有 feature 的現況。三個重點:(1) 一行就有七個 feature,先放著,等下是主軸。(2) Supported 是這顆節點的 binary 會講到哪;Finalized 是整個叢集現在啟用到哪——這組對比後面 Q1 全靠它。(3) 只有 metadata.version 顯示成 4.1-IV0 這種字串,因為程式只對它做了 levelToString,其他 feature 都印裸整數 0/1/2。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接嘉平第13頁的維運最佳實踐。升級永遠兩段:先一台一台滾動換 binary,全部換完觀察穩定;再下一行指令推版本。關鍵心法:binary 是能力上限,version 是啟用開關。binary 沒到位就推 version,等於叫還不會的 broker 用新招——所以順序不能反。對照 ZK 時代要改 config 再重啟第二輪,KRaft 把版本變成 Raft log 的紀錄,第二段省掉一輪重啟。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這是整場主軸。很多人以為 metadata.version 是個從頭到角全包的總版本號。錯。Feature enum 的註解直接寫:MetadataVersion is handled separately, so it is not included here——它根本不在那份 feature 清單裡。MV 只管『格式』這層:record 格式、broker 間 RPC 版本。真正的能力開關是一個一個獨立的 feature。歷史:KIP-584 當年只生出一個 feature 就是 MV;KIP-1022 從 4.0 起才讓每個能力有自己的 feature。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這就是 describe 裡那七行的真面目。最上面 metadata.version 是格式錨點,下面六個是獨立 feature,各自綁一個 KIP:kraft.version=KIP-853 動態 quorum、transaction=KIP-890、group=KIP-848 新消費者協定、ELR=KIP-966、share=KIP-932 share groups、streams=KIP-1071。重點:除了 ELR,其它的 dependencies 幾乎都是空的,可以各自獨立升降——這證明 MV 不是萬能超集。</a:t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你下 --release-version 4.1,工具其實是把它翻譯成『MV + 每個 production feature 的預設 level』一整包。version-mapping 這個子命令離線就能跑,純查表,可以現場 demo。所以三種旗標:--release-version 一鍵全升;--feature x=N 只動一個;--metadata 是舊寫法已經 deprecated。提醒:version-mapping 跟 feature-dependencies 都不必連叢集。</a:t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Q1:你說『我滾動重啟都換新 binary 了,當然都能升』——但叢集怎麼知道你真的都換好、沒漏一台?關鍵:kafka-features.sh 這個 CLI 只是個殼,它做的事就一行 admin.updateFeatures。它不檢查相容性,真正把關的是 Controller。--dry-run 就是把 validateOnly=true 丟給 Controller 試算、不寫入,是最安全的測試方式。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這張是 Q1 的核心。請求進到 FeatureControlManager.reasonNotSupported,把目標 level 套到每一個節點上:先本地 active controller,再每一個註冊過的 broker,再每一個註冊過的 controller。沒有先算交集,而是一個節點一個節點 range.contains(目標 level),發現一個不支援就立刻擋下。supported range 哪來?每個節點註冊時上報的(binary 編進去的)。額外還有完整性檢查:quorum 裡每個 controller 都要在名單中,否則拒絕。全部通過才寫入 FeatureLevelRecord。第二道門:就算升級成功,一台舊 binary 想重新加入,會在註冊時被 ClusterControlManager 再擋一次。</a:t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被擋下來長這樣。版本太舊:Invalid update version ... Broker 5 only supports versions 0-0,直接點名是誰拖累全場。升級時剛好掛一台 controller:controller 3 has not registered。第二道門(舊 binary 重新加入):Unable to register because the broker does not support finalized version...。兩個重點:整批 all-or-nothing,一個不過全退回;被拒的舊 binary 不是當場崩潰,而是卡在註冊 retry,撐過預設 60 秒的 initial.broker.registration.timeout.ms 才自己關機——所以症狀是一台 broker 卡一分鐘然後退出,不是瞬間 crash。</a:t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Q2 升級篇。升級的範圍就是你動到的那些 feature,各開各的。動 MV 開的是格式層:新 record 版本、JBOD、broker 間 RPC 版本。動 group.version=1,KafkaApis 才開始受理新消費者協定的 heartbeat。動 share.version,broker 即時切換 share group 行為。重點是這些是解耦的,大多數 feature 的 dependencies 是空的。唯一例外是 ELR:開 elr.version=1 要求 metadata.version ≥ 4.0-IV1,因為它要用 MV 在 4.0-IV1 才加的 record 格式。這也是 ELR『一個 KIP 兩個旋鈕』——行為是獨立 feature,record 格式歸 MV,別講混。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Q2 降級篇——這才是這場真正的重點,因為會刪資料。三件事:(1) metadata.version 降級,Controller 算 checkIfMetadataChanged,只要中間跨過任何一個 record 格式變動的版本就直接拒『might delete metadata information』。(2) 想硬幹加 --unsafe?沒用,KAFKA-13896 根本還沒實作,回『Unsafe metadata downgrade is not supported』。能降的 MV 只有一種:兩版之間完全沒有 record 格式變動。(3) kraft.version 更絕,完全不能降,一旦開了動態 quorum 就回不去。最安全的 demo 就是這個 downgrade --dry-run,會被擋又不會弄壞叢集。</a:t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升級還有一個常被忽略的影響:它會把整個叢集的『最低 binary 版本』往上抬。一旦某個 level 被 finalize,之後任何舊 binary 的節點連加入都會被第二道門擋下,你就回不去舊 binary。所以升級的影響不只是功能開了,而是叢集地板被抬高——這是 plan-your-rollout:先確定新 binary 穩,再 finalize。安全網三件套:--dry-run 試算、先 describe 看每台 supported range、降級前備份 metadata log。</a:t>
            </a:r>
            <a:endParaRPr/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Q3,嘉平特別點名要回答的。乾淨的答案:feature versioning 跟 config 驗證目前是兩套正交系統。整條 updateFeatures 路徑只驗四件事——upgrade type、level≥0、每個節點支不支援、feature 依賴圖,完全不碰任何 config。升 feature 不會因為你某個參數設錯被擋,反之亦然。但要講精準,不能說『沒有任何 config 被 feature 管』:其實已經有手刻的幾個——cordoned.log.dirs 要 MV≥4.3-IV0、min.insync.replicas 變更受 ELR feature 管。這些是 controller 裡一個一個寫死的 if,不是通用框架。</a:t>
            </a:r>
            <a:endParaRPr/>
          </a:p>
        </p:txBody>
      </p:sp>
      <p:sp>
        <p:nvSpPr>
          <p:cNvPr id="252" name="Google Shape;25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Q3 接嘉平第一場第3頁:他說『參數與邏輯檢查由 Binary 絕對驅動』——對,config 的嚴格檢查跟著你跑的 binary、不是跟著 feature level,這正是 MV 不是萬能超集的另一面。未來正在補,而且主導就是嘉平(reporter)跟 TaiJuWu:KIP-1326(投票中)讓 broker 在 BrokerRegistrationRequest 把 static config 報給 controller、存進 RegisterBrokerRecord,只是基礎建設、不含驗證;KIP-1294(討論中,Metadata-Version-Aware Configuration Constraints)才是真正的參數檢查——升級前依目標 MV 檢查每台 broker 的 config。殺手例:未來 MV 若把 log.segment.bytes 下限從 1 byte 提到 3MB,今天不檢查的話,舊 config 的 broker 換 binary 後會啟動失敗、連不進叢集、連 AlterConfigs 都救不了——這就串回 Q2『升級抬高地板、只在 restart 才爆』。KIP-1326+1294 就是要把『restart 才爆』變成『升級前擋』。trunk 還沒有,今天當 proposed 講。</a:t>
            </a:r>
            <a:endParaRPr/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收尾四句:(1) MV 不是總開關,是格式錨點;能力是 6+1 個獨立 feature。(2) 把關在 Controller:逐節點 supported range + quorum 全員到齊,舊 binary 也擋。(3) 升易降難:MV 跨格式不能降、--unsafe 沒用、kraft.version 不能降。(4) config 檢查目前不歸 feature 管,跟著 binary,通用化是未來 KIP。回收小明:他上次被開除是把『換 binary』當成『升版本』;Kafka 其實設了一堆護欄擋得住他亂搞——除了降級這條路,踩下去是真的會出事。</a:t>
            </a:r>
            <a:endParaRPr/>
          </a:p>
        </p:txBody>
      </p:sp>
      <p:sp>
        <p:nvSpPr>
          <p:cNvPr id="284" name="Google Shape;2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速查表。describe 看現況要連叢集;version-mapping 跟 feature-dependencies 離線就能跑,最適合上台。最安全的 demo 是最後那個 downgrade --dry-run,會被擋又不會弄壞叢集。提醒:upgrade/downgrade 的 --feature 是 name=level,disable 的 --feature 只給名字,別搞混。</a:t>
            </a:r>
            <a:endParaRPr/>
          </a:p>
        </p:txBody>
      </p:sp>
      <p:sp>
        <p:nvSpPr>
          <p:cNvPr id="307" name="Google Shape;3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26a2501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26a2501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26a25019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26a25019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f26a25019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f26a25019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332720" y="-1280160"/>
            <a:ext cx="3291840" cy="3291840"/>
          </a:xfrm>
          <a:prstGeom prst="ellipse">
            <a:avLst/>
          </a:prstGeom>
          <a:solidFill>
            <a:srgbClr val="0B6B53"/>
          </a:solidFill>
          <a:ln cap="flat" cmpd="sng" w="12700">
            <a:solidFill>
              <a:srgbClr val="0B6B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155680" y="4572000"/>
            <a:ext cx="2377440" cy="2377440"/>
          </a:xfrm>
          <a:prstGeom prst="ellipse">
            <a:avLst/>
          </a:prstGeom>
          <a:solidFill>
            <a:srgbClr val="3E3879"/>
          </a:solidFill>
          <a:ln cap="flat" cmpd="sng" w="12700">
            <a:solidFill>
              <a:srgbClr val="3E3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66928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5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9FD8C5"/>
                </a:solidFill>
                <a:latin typeface="Arial"/>
                <a:ea typeface="Arial"/>
                <a:cs typeface="Arial"/>
                <a:sym typeface="Arial"/>
              </a:rPr>
              <a:t>幾萬個節點之上的版本控制 · 第二場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2331720"/>
            <a:ext cx="10607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運行時的版本升降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3611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D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C7D6D0"/>
                </a:solidFill>
                <a:latin typeface="Arial"/>
                <a:ea typeface="Arial"/>
                <a:cs typeface="Arial"/>
                <a:sym typeface="Arial"/>
              </a:rPr>
              <a:t>升 metadata.version,真的等於升全部嗎?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5989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A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FA3A0"/>
                </a:solidFill>
                <a:latin typeface="Arial"/>
                <a:ea typeface="Arial"/>
                <a:cs typeface="Arial"/>
                <a:sym typeface="Arial"/>
              </a:rPr>
              <a:t>鍾明諺 · 2026-06-25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66928" y="420624"/>
            <a:ext cx="877824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66928" y="420624"/>
            <a:ext cx="8778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系列地圖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這一場:從「定義版本」到「動態升降」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66928" y="1965960"/>
            <a:ext cx="2615184" cy="1828800"/>
          </a:xfrm>
          <a:prstGeom prst="roundRect">
            <a:avLst>
              <a:gd fmla="val 5000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66928" y="2148840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6/18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58368" y="269748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啟動時定義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58368" y="320040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蔡嘉平 · 出廠設定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381146" y="1965960"/>
            <a:ext cx="2615184" cy="1828800"/>
          </a:xfrm>
          <a:prstGeom prst="roundRect">
            <a:avLst>
              <a:gd fmla="val 5000" name="adj"/>
            </a:avLst>
          </a:prstGeom>
          <a:solidFill>
            <a:srgbClr val="0F8A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381146" y="2148840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6/25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472586" y="269748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運行時升降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472586" y="320040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E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DEFE9"/>
                </a:solidFill>
                <a:latin typeface="Arial"/>
                <a:ea typeface="Arial"/>
                <a:cs typeface="Arial"/>
                <a:sym typeface="Arial"/>
              </a:rPr>
              <a:t>鍾明諺 · 線上熱改版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381146" y="3822192"/>
            <a:ext cx="26151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← 今天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95365" y="1965960"/>
            <a:ext cx="2615184" cy="1828800"/>
          </a:xfrm>
          <a:prstGeom prst="roundRect">
            <a:avLst>
              <a:gd fmla="val 5000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195365" y="2148840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7/2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86805" y="269748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溝通時選擇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86805" y="320040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Eric · API 協商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009583" y="1965960"/>
            <a:ext cx="2615184" cy="1828800"/>
          </a:xfrm>
          <a:prstGeom prst="roundRect">
            <a:avLst>
              <a:gd fmla="val 5000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009583" y="2148840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7/9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01023" y="269748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儲存時宣告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101023" y="320040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博安 · 資料版本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66928" y="466344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嘉平把版本寫進硬碟(format 寫死);今天看叢集跑起來之後,怎麼線上把版本升上去、或降回來。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566928" y="420624"/>
            <a:ext cx="1001268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66928" y="420624"/>
            <a:ext cx="10012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先對齊:現在叢集是哪一版?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66928" y="1874520"/>
            <a:ext cx="11057839" cy="2148840"/>
          </a:xfrm>
          <a:prstGeom prst="roundRect">
            <a:avLst>
              <a:gd fmla="val 4255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68096" y="2020824"/>
            <a:ext cx="10655503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$ kafka-features.sh --bootstrap-server :9092 describe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Feature: metadata.version     SupportedMax: 4.1-IV1   Finalized: 4.1-IV0   Epoch: 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Feature: kraft.version        SupportedMax: 1         Finalized: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Feature: transaction.version  SupportedMax: 2         Finalized: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Feature: group.version        SupportedMax: 1         Finalized: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Feature: share.version        SupportedMax: 1         Finalized: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...（一共 7 個 feature,各自一個 level）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66928" y="4251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49808" y="4407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一行就有七個 feature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49808" y="5029200"/>
            <a:ext cx="307634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每個各自一個 level —— 這就是今天的主軸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74794" y="4251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57674" y="4407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Supported vs Finalized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57674" y="5029200"/>
            <a:ext cx="307634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Supported=binary 會講;Finalized=叢集現在啟用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182661" y="4251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8365541" y="4407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顯示格式不一樣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365541" y="5029200"/>
            <a:ext cx="307634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metadata.version 印 IBP 字串,其他印整數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566928" y="420624"/>
            <a:ext cx="1001268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566928" y="420624"/>
            <a:ext cx="10012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升級的標準動作 = 兩段式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66928" y="1965960"/>
            <a:ext cx="5300320" cy="2011680"/>
          </a:xfrm>
          <a:prstGeom prst="roundRect">
            <a:avLst>
              <a:gd fmla="val 4545" name="adj"/>
            </a:avLst>
          </a:prstGeom>
          <a:solidFill>
            <a:srgbClr val="F4F6F6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41248" y="2148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A6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8A6B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41248" y="2487168"/>
            <a:ext cx="475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滾動換 binary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41248" y="3017520"/>
            <a:ext cx="475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一台一台:關掉 → 換程式 → 開起來。全部換完,觀察穩定。此時還沒「啟用」新版本。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324448" y="1965960"/>
            <a:ext cx="5300320" cy="2011680"/>
          </a:xfrm>
          <a:prstGeom prst="roundRect">
            <a:avLst>
              <a:gd fmla="val 4545" name="adj"/>
            </a:avLst>
          </a:prstGeom>
          <a:solidFill>
            <a:srgbClr val="E7F3EE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598768" y="2148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598768" y="2487168"/>
            <a:ext cx="475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推版本(一行指令)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598768" y="3017520"/>
            <a:ext cx="4751680" cy="868680"/>
          </a:xfrm>
          <a:prstGeom prst="roundRect">
            <a:avLst>
              <a:gd fmla="val 10526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799936" y="3163824"/>
            <a:ext cx="434934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upgrade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  --release-version 4.1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6928" y="4251960"/>
            <a:ext cx="11057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為什麼分兩段? </a:t>
            </a:r>
            <a:r>
              <a:rPr b="0" i="0" lang="en-US" sz="15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binary = 能力上限,version = 啟用開關。binary 沒先到位就推 version,等於叫一台還不會這招的 broker 去用這招。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66928" y="4983480"/>
            <a:ext cx="110578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對照 ZooKeeper 時代:</a:t>
            </a:r>
            <a:r>
              <a:rPr b="0" i="0" lang="en-US" sz="13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以前要改 inter.broker.protocol.version 設定檔再重啟第二輪;KRaft 把它變成 Raft log 一筆紀錄,第二段只剩一行、不必再重啟。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主軸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迷思:metadata.version 是「總版本號」?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66928" y="178308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很多人以為 metadata.version 從頭到角全包。程式碼直接打臉: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66928" y="2331720"/>
            <a:ext cx="11057839" cy="1417320"/>
          </a:xfrm>
          <a:prstGeom prst="roundRect">
            <a:avLst>
              <a:gd fmla="val 6452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68096" y="2478024"/>
            <a:ext cx="10655503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// server/common/Feature.java:41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// MetadataVersion is handled separately,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// so it is not included here.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66928" y="4069080"/>
            <a:ext cx="5410048" cy="1691640"/>
          </a:xfrm>
          <a:prstGeom prst="roundRect">
            <a:avLst>
              <a:gd fmla="val 5405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95528" y="4224528"/>
            <a:ext cx="498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MV 管「格式」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95528" y="4736592"/>
            <a:ext cx="498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record / message 格式版本、broker 間 RPC 版本(一整排 isXxxSupported())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324448" y="4069080"/>
            <a:ext cx="5410048" cy="1691640"/>
          </a:xfrm>
          <a:prstGeom prst="roundRect">
            <a:avLst>
              <a:gd fmla="val 5405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553048" y="4224528"/>
            <a:ext cx="498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能力是 per-feature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553048" y="4736592"/>
            <a:ext cx="498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KIP-584 當年只有 MV;KIP-1022(4.0 起)讓每個能力有自己的 feature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主軸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6 個獨立 feature + metadata.version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6"/>
          <p:cNvGraphicFramePr/>
          <p:nvPr/>
        </p:nvGraphicFramePr>
        <p:xfrm>
          <a:off x="566928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{B37FB158-B852-4FC3-864B-B0771CBACF5C}</a:tableStyleId>
              </a:tblPr>
              <a:tblGrid>
                <a:gridCol w="3383275"/>
                <a:gridCol w="5943600"/>
                <a:gridCol w="1746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level = 1 開啟什麼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6B53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B6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metadata.version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record / RPC 格式版本 —— 格式錨點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584 / 1022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kraft.version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動態增刪 quorum 投票成員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交易格式 v2 / 每筆 bump epoch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group.version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新版 Consumer rebalance 協定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eligible.leader.replicas.version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ELR —— 更安全的選主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 groups(佇列語意)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streams.version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3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E2A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新版 Streams rebalance 協定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67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5A66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1071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0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6"/>
          <p:cNvSpPr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除了 ELR,其它 feature 的 dependencies() 幾乎都是空的 —— 可以各自獨立升降。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主軸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一個 --release-version,展開成一整排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66928" y="1874520"/>
            <a:ext cx="6675120" cy="2286000"/>
          </a:xfrm>
          <a:prstGeom prst="roundRect">
            <a:avLst>
              <a:gd fmla="val 4000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68096" y="2020824"/>
            <a:ext cx="6272784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$ kafka-features.sh version-mapping --release-version 4.1-IV0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metadata.version=27 (4.1-IV0)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kraft.version=1            transaction.version=2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group.version=1           eligible.leader.replicas.version=1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share.version=0           streams.version=0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498080" y="1874520"/>
            <a:ext cx="4126687" cy="2286000"/>
          </a:xfrm>
          <a:prstGeom prst="roundRect">
            <a:avLst>
              <a:gd fmla="val 4000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680960" y="2057400"/>
            <a:ext cx="3760927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--release-version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一鍵全升到該版本該有的樣子</a:t>
            </a: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--feature x=N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只動其中一個</a:t>
            </a: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--metadata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舊寫法,已 DEPRECATED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66928" y="4434840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規則:--release-version 翻成「MV + 每個 production feature 的 defaultLevel」。version-mapping 與 feature-dependencies 不必連叢集,純查表,最適合上台 demo。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566928" y="420624"/>
            <a:ext cx="2606040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66928" y="42062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 · 確認每個節點都能升 / 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誰在把關?不是 CLI,是 Controller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66928" y="1874520"/>
            <a:ext cx="11057839" cy="1417320"/>
          </a:xfrm>
          <a:prstGeom prst="roundRect">
            <a:avLst>
              <a:gd fmla="val 6452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68096" y="2020824"/>
            <a:ext cx="10655503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// FeatureCommand.java:439  ——  CLI 做的事就這一行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admin.updateFeatures(updates,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EE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8EEEC"/>
                </a:solidFill>
                <a:latin typeface="Arial"/>
                <a:ea typeface="Arial"/>
                <a:cs typeface="Arial"/>
                <a:sym typeface="Arial"/>
              </a:rPr>
              <a:t>    new UpdateFeaturesOptions().validateOnly(dryRun));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66928" y="3611880"/>
            <a:ext cx="3442106" cy="1691640"/>
          </a:xfrm>
          <a:prstGeom prst="roundRect">
            <a:avLst>
              <a:gd fmla="val 540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68096" y="3794760"/>
            <a:ext cx="303977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CLI 只是個殼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68096" y="4407408"/>
            <a:ext cx="303977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它不檢查相容性,只把請求送給 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374794" y="3611880"/>
            <a:ext cx="3442106" cy="1691640"/>
          </a:xfrm>
          <a:prstGeom prst="roundRect">
            <a:avLst>
              <a:gd fmla="val 5405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5962" y="3794760"/>
            <a:ext cx="303977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Controller 才把關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5962" y="4407408"/>
            <a:ext cx="303977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真正決定能不能升降的是 active 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182661" y="3611880"/>
            <a:ext cx="3442106" cy="1691640"/>
          </a:xfrm>
          <a:prstGeom prst="roundRect">
            <a:avLst>
              <a:gd fmla="val 540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8383829" y="3794760"/>
            <a:ext cx="303977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--dry-run = validateOnly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8383829" y="4407408"/>
            <a:ext cx="303977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丟給 Controller 試算、不寫入 —— 最安全的測試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Controller 逐一點名每個節點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261208" y="1737360"/>
            <a:ext cx="5669280" cy="713232"/>
          </a:xfrm>
          <a:prstGeom prst="roundRect">
            <a:avLst>
              <a:gd fmla="val 12821" name="adj"/>
            </a:avLst>
          </a:prstGeom>
          <a:solidFill>
            <a:srgbClr val="0F8A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261208" y="1828800"/>
            <a:ext cx="5669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Active Controller · FeatureControlManager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261208" y="2157984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FE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DEFE9"/>
                </a:solidFill>
                <a:latin typeface="Arial"/>
                <a:ea typeface="Arial"/>
                <a:cs typeface="Arial"/>
                <a:sym typeface="Arial"/>
              </a:rPr>
              <a:t>唯一真正的把關者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9"/>
          <p:cNvCxnSpPr/>
          <p:nvPr/>
        </p:nvCxnSpPr>
        <p:spPr>
          <a:xfrm>
            <a:off x="6095848" y="2450592"/>
            <a:ext cx="0" cy="310896"/>
          </a:xfrm>
          <a:prstGeom prst="straightConnector1">
            <a:avLst/>
          </a:prstGeom>
          <a:noFill/>
          <a:ln cap="flat" cmpd="sng" w="22225">
            <a:solidFill>
              <a:srgbClr val="5A66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9"/>
          <p:cNvSpPr/>
          <p:nvPr/>
        </p:nvSpPr>
        <p:spPr>
          <a:xfrm>
            <a:off x="566928" y="2779776"/>
            <a:ext cx="110578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reasonNotSupported() —— 逐一檢查每個節點的 supported range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66928" y="3154680"/>
            <a:ext cx="3246120" cy="960120"/>
          </a:xfrm>
          <a:prstGeom prst="roundRect">
            <a:avLst>
              <a:gd fmla="val 9524" name="adj"/>
            </a:avLst>
          </a:prstGeom>
          <a:solidFill>
            <a:srgbClr val="ECEAF7"/>
          </a:solidFill>
          <a:ln cap="flat" cmpd="sng" w="12700">
            <a:solidFill>
              <a:srgbClr val="574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58368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本地 controller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8368" y="36393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supported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要含目標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472788" y="3154680"/>
            <a:ext cx="3246120" cy="960120"/>
          </a:xfrm>
          <a:prstGeom prst="roundRect">
            <a:avLst>
              <a:gd fmla="val 9524" name="adj"/>
            </a:avLst>
          </a:prstGeom>
          <a:solidFill>
            <a:srgbClr val="ECEAF7"/>
          </a:solidFill>
          <a:ln cap="flat" cmpd="sng" w="12700">
            <a:solidFill>
              <a:srgbClr val="574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564228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每個 broker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64228" y="36393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supported range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要含目標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378647" y="3154680"/>
            <a:ext cx="3246120" cy="960120"/>
          </a:xfrm>
          <a:prstGeom prst="roundRect">
            <a:avLst>
              <a:gd fmla="val 9524" name="adj"/>
            </a:avLst>
          </a:prstGeom>
          <a:solidFill>
            <a:srgbClr val="ECEAF7"/>
          </a:solidFill>
          <a:ln cap="flat" cmpd="sng" w="12700">
            <a:solidFill>
              <a:srgbClr val="574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8470087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每個 controller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470087" y="36393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quorum 還要全員到齊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3520440" y="4160520"/>
            <a:ext cx="0" cy="365760"/>
          </a:xfrm>
          <a:prstGeom prst="straightConnector1">
            <a:avLst/>
          </a:prstGeom>
          <a:noFill/>
          <a:ln cap="flat" cmpd="sng" w="22225">
            <a:solidFill>
              <a:srgbClr val="3C7D3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9"/>
          <p:cNvCxnSpPr/>
          <p:nvPr/>
        </p:nvCxnSpPr>
        <p:spPr>
          <a:xfrm>
            <a:off x="8641080" y="4160520"/>
            <a:ext cx="0" cy="365760"/>
          </a:xfrm>
          <a:prstGeom prst="straightConnector1">
            <a:avLst/>
          </a:prstGeom>
          <a:noFill/>
          <a:ln cap="flat" cmpd="sng" w="22225">
            <a:solidFill>
              <a:srgbClr val="C24A3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9"/>
          <p:cNvSpPr/>
          <p:nvPr/>
        </p:nvSpPr>
        <p:spPr>
          <a:xfrm>
            <a:off x="1371600" y="4553712"/>
            <a:ext cx="4297680" cy="786384"/>
          </a:xfrm>
          <a:prstGeom prst="roundRect">
            <a:avLst>
              <a:gd fmla="val 11628" name="adj"/>
            </a:avLst>
          </a:prstGeom>
          <a:solidFill>
            <a:srgbClr val="EBF2E7"/>
          </a:solidFill>
          <a:ln cap="flat" cmpd="sng" w="12700">
            <a:solidFill>
              <a:srgbClr val="3C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554480" y="464515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7D3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C7D31"/>
                </a:solidFill>
                <a:latin typeface="Arial"/>
                <a:ea typeface="Arial"/>
                <a:cs typeface="Arial"/>
                <a:sym typeface="Arial"/>
              </a:rPr>
              <a:t>通過 —— 全部都支援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554480" y="4956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寫入 FeatureLevelRecord,升降成功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92240" y="4553712"/>
            <a:ext cx="4297680" cy="786384"/>
          </a:xfrm>
          <a:prstGeom prst="roundRect">
            <a:avLst>
              <a:gd fmla="val 11628" name="adj"/>
            </a:avLst>
          </a:prstGeom>
          <a:solidFill>
            <a:srgbClr val="F7EBE9"/>
          </a:solidFill>
          <a:ln cap="flat" cmpd="sng" w="12700">
            <a:solidFill>
              <a:srgbClr val="C2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6675120" y="464515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24A3F"/>
                </a:solidFill>
                <a:latin typeface="Arial"/>
                <a:ea typeface="Arial"/>
                <a:cs typeface="Arial"/>
                <a:sym typeface="Arial"/>
              </a:rPr>
              <a:t>擋下 —— 有人太舊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675120" y="4956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整批退回 INVALID_UPDATE_VERSION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66928" y="5623560"/>
            <a:ext cx="11057839" cy="658368"/>
          </a:xfrm>
          <a:prstGeom prst="roundRect">
            <a:avLst>
              <a:gd fmla="val 13889" name="adj"/>
            </a:avLst>
          </a:prstGeom>
          <a:solidFill>
            <a:srgbClr val="F7F0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795528" y="5623560"/>
            <a:ext cx="1060063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B1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C6B12"/>
                </a:solidFill>
                <a:latin typeface="Arial"/>
                <a:ea typeface="Arial"/>
                <a:cs typeface="Arial"/>
                <a:sym typeface="Arial"/>
              </a:rPr>
              <a:t>第二道門 · 節點註冊時:</a:t>
            </a:r>
            <a:r>
              <a:rPr b="0" i="0" lang="en-US" sz="14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舊 binary 想重新加入 → ClusterControlManager 再擋一次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升不上去時,你會看到什麼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66928" y="1874520"/>
            <a:ext cx="7040880" cy="3383280"/>
          </a:xfrm>
          <a:prstGeom prst="roundRect">
            <a:avLst>
              <a:gd fmla="val 2703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68096" y="2020824"/>
            <a:ext cx="6638544" cy="3090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有人版本太舊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Invalid update version 1 for feature group.version.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  Broker 5 only supports versions 0-0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有 controller 還沒註冊(升級時剛好掛一台)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controller 3 has not registered, and may not support this feature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第二道門:舊 binary 想重新加入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Unable to register because the broker does not support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  finalized version 1 of group.version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818120" y="1874520"/>
            <a:ext cx="3806647" cy="3383280"/>
          </a:xfrm>
          <a:prstGeom prst="roundRect">
            <a:avLst>
              <a:gd fmla="val 2703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028432" y="2057400"/>
            <a:ext cx="3376879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all-or-nothing</a:t>
            </a:r>
            <a:br>
              <a:rPr b="1" i="0" lang="en-US" sz="14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一個 feature 對一個節點不過,整個請求全部失敗。</a:t>
            </a: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撐 60 秒才關機</a:t>
            </a:r>
            <a:br>
              <a:rPr b="1" i="0" lang="en-US" sz="14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被拒的舊 binary 不是當場崩,而是卡在註冊 retry,撐過 initial.broker.registration.timeout.ms(預設 60s)才自己關機。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566928" y="420624"/>
            <a:ext cx="1495044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566928" y="420624"/>
            <a:ext cx="14950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 · 影響範圍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升級的範圍:per-feature,各開各的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66928" y="1938528"/>
            <a:ext cx="3442106" cy="2084832"/>
          </a:xfrm>
          <a:prstGeom prst="roundRect">
            <a:avLst>
              <a:gd fmla="val 4386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49808" y="2084832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metadata.version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49808" y="2578608"/>
            <a:ext cx="307634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開「格式層」:record / RPC 版本(如 ELR 讓 PartitionRecord 升 v2、JBOD、Fetch)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374794" y="1938528"/>
            <a:ext cx="3442106" cy="2084832"/>
          </a:xfrm>
          <a:prstGeom prst="roundRect">
            <a:avLst>
              <a:gd fmla="val 4386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4557674" y="2084832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group.version=1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557674" y="2578608"/>
            <a:ext cx="307634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KafkaApis 才受理 ConsumerGroupHeartbeat,否則回 UNSUPPORTED_VERSION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182661" y="1938528"/>
            <a:ext cx="3442106" cy="2084832"/>
          </a:xfrm>
          <a:prstGeom prst="roundRect">
            <a:avLst>
              <a:gd fmla="val 4386" name="adj"/>
            </a:avLst>
          </a:prstGeom>
          <a:solidFill>
            <a:srgbClr val="ECEA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8365541" y="2084832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share.version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365541" y="2578608"/>
            <a:ext cx="307634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broker 上 SharePartitionManager 即時切換 share group 行為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66928" y="4224528"/>
            <a:ext cx="11057839" cy="1371600"/>
          </a:xfrm>
          <a:prstGeom prst="roundRect">
            <a:avLst>
              <a:gd fmla="val 6667" name="adj"/>
            </a:avLst>
          </a:prstGeom>
          <a:solidFill>
            <a:srgbClr val="F4F6F6"/>
          </a:solidFill>
          <a:ln cap="flat" cmpd="sng" w="12700">
            <a:solidFill>
              <a:srgbClr val="574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841248" y="4370832"/>
            <a:ext cx="1050919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387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E3879"/>
                </a:solidFill>
                <a:latin typeface="Arial"/>
                <a:ea typeface="Arial"/>
                <a:cs typeface="Arial"/>
                <a:sym typeface="Arial"/>
              </a:rPr>
              <a:t>唯一的跨 feature 依賴 —— ELR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41248" y="4791456"/>
            <a:ext cx="1050919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開 ELR(elr.version=1)要求 metadata.version ≥ 4.0-IV1,因為 ELR 的 record 格式是 MV 在 4.0-IV1 才加的。一個 KIP、兩個旋鈕:「行為」是獨立 feature,「record 格式」歸 MV。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降級才是重點 —— 會刪資料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66928" y="1965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F7EBE9"/>
          </a:solidFill>
          <a:ln cap="flat" cmpd="sng" w="12700">
            <a:solidFill>
              <a:srgbClr val="C2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49808" y="2121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24A3F"/>
                </a:solidFill>
                <a:latin typeface="Arial"/>
                <a:ea typeface="Arial"/>
                <a:cs typeface="Arial"/>
                <a:sym typeface="Arial"/>
              </a:rPr>
              <a:t>metadata.version 跨格式變動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49808" y="2743200"/>
            <a:ext cx="307634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只要中間跨過任何 record 格式變動,直接拒絕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374794" y="1965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F7EBE9"/>
          </a:solidFill>
          <a:ln cap="flat" cmpd="sng" w="12700">
            <a:solidFill>
              <a:srgbClr val="C2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557674" y="2121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24A3F"/>
                </a:solidFill>
                <a:latin typeface="Arial"/>
                <a:ea typeface="Arial"/>
                <a:cs typeface="Arial"/>
                <a:sym typeface="Arial"/>
              </a:rPr>
              <a:t>--unsafe 也沒用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557674" y="2743200"/>
            <a:ext cx="307634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KAFKA-13896 還沒實作,硬加 --unsafe 一樣被拒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8182661" y="1965960"/>
            <a:ext cx="3442106" cy="1554480"/>
          </a:xfrm>
          <a:prstGeom prst="roundRect">
            <a:avLst>
              <a:gd fmla="val 5882" name="adj"/>
            </a:avLst>
          </a:prstGeom>
          <a:solidFill>
            <a:srgbClr val="F7EBE9"/>
          </a:solidFill>
          <a:ln cap="flat" cmpd="sng" w="12700">
            <a:solidFill>
              <a:srgbClr val="C24A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8365541" y="2121408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A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24A3F"/>
                </a:solidFill>
                <a:latin typeface="Arial"/>
                <a:ea typeface="Arial"/>
                <a:cs typeface="Arial"/>
                <a:sym typeface="Arial"/>
              </a:rPr>
              <a:t>kraft.version 不能降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365541" y="2743200"/>
            <a:ext cx="307634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一旦開了動態 quorum(KIP-853)就回不去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66928" y="3749040"/>
            <a:ext cx="11057839" cy="1920240"/>
          </a:xfrm>
          <a:prstGeom prst="roundRect">
            <a:avLst>
              <a:gd fmla="val 4762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768096" y="3895344"/>
            <a:ext cx="10655503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$ kafka-features.sh downgrade --metadata 4.0 --dry-run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Unsupported metadata.version downgrade from 27 to 23.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Refusing to perform the requested downgrade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4B6A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B6AD"/>
                </a:solidFill>
                <a:latin typeface="Arial"/>
                <a:ea typeface="Arial"/>
                <a:cs typeface="Arial"/>
                <a:sym typeface="Arial"/>
              </a:rPr>
              <a:t>  because it might delete metadata information.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升級會把叢集「最低 binary 版本」往上抬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66928" y="1965960"/>
            <a:ext cx="11057839" cy="1371600"/>
          </a:xfrm>
          <a:prstGeom prst="roundRect">
            <a:avLst>
              <a:gd fmla="val 6667" name="adj"/>
            </a:avLst>
          </a:prstGeom>
          <a:solidFill>
            <a:srgbClr val="F7F0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841248" y="2194560"/>
            <a:ext cx="10509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B1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C6B12"/>
                </a:solidFill>
                <a:latin typeface="Arial"/>
                <a:ea typeface="Arial"/>
                <a:cs typeface="Arial"/>
                <a:sym typeface="Arial"/>
              </a:rPr>
              <a:t>一旦某個 level 被 finalize,</a:t>
            </a:r>
            <a:r>
              <a:rPr b="0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之後任何舊 binary 的節點連加入都會被註冊那道門擋下 —— 你回不去舊 binary 了。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41248" y="2743200"/>
            <a:ext cx="1050919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所以升級的影響不只是「功能開了」,而是「叢集地板被抬高」。這是 plan-your-rollout 的訊息:先確定新 binary 穩,再 finalize。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66928" y="3611880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安全網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66928" y="4069080"/>
            <a:ext cx="3442106" cy="1371600"/>
          </a:xfrm>
          <a:prstGeom prst="roundRect">
            <a:avLst>
              <a:gd fmla="val 6667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749808" y="4251960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--dry-run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749808" y="4754880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validateOnly 試算,不寫入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4374794" y="4069080"/>
            <a:ext cx="3442106" cy="1371600"/>
          </a:xfrm>
          <a:prstGeom prst="roundRect">
            <a:avLst>
              <a:gd fmla="val 6667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4557674" y="4251960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先 describe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557674" y="4754880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看每台 SupportedMax 到哪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8182661" y="4069080"/>
            <a:ext cx="3442106" cy="1371600"/>
          </a:xfrm>
          <a:prstGeom prst="roundRect">
            <a:avLst>
              <a:gd fmla="val 6667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8365541" y="4251960"/>
            <a:ext cx="30763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備份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8365541" y="4754880"/>
            <a:ext cx="30763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降級前先備份 metadata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/>
          <p:nvPr/>
        </p:nvSpPr>
        <p:spPr>
          <a:xfrm>
            <a:off x="566928" y="420624"/>
            <a:ext cx="1495044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566928" y="420624"/>
            <a:ext cx="14950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 · 參數檢查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參數檢查有沒有包含?目前:沒有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566928" y="1920240"/>
            <a:ext cx="11057839" cy="1325880"/>
          </a:xfrm>
          <a:prstGeom prst="roundRect">
            <a:avLst>
              <a:gd fmla="val 6897" name="adj"/>
            </a:avLst>
          </a:prstGeom>
          <a:solidFill>
            <a:srgbClr val="E7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841248" y="2121408"/>
            <a:ext cx="10509199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feature 升降 vs config 驗證 = 兩條正交的路。</a:t>
            </a:r>
            <a:r>
              <a:rPr b="0" i="0" lang="en-US" sz="15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  整條 updateFeatures 路徑只驗:upgrade type、level≥0、每個節點支不支援、feature 依賴圖 —— 完全不碰任何 broker / topic config。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566928" y="3474720"/>
            <a:ext cx="11057839" cy="2103120"/>
          </a:xfrm>
          <a:prstGeom prst="roundRect">
            <a:avLst>
              <a:gd fmla="val 4348" name="adj"/>
            </a:avLst>
          </a:prstGeom>
          <a:solidFill>
            <a:srgbClr val="F4F6F6"/>
          </a:solidFill>
          <a:ln cap="flat" cmpd="sng" w="12700">
            <a:solidFill>
              <a:srgbClr val="9C6B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841248" y="3639312"/>
            <a:ext cx="1050919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B1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C6B12"/>
                </a:solidFill>
                <a:latin typeface="Arial"/>
                <a:ea typeface="Arial"/>
                <a:cs typeface="Arial"/>
                <a:sym typeface="Arial"/>
              </a:rPr>
              <a:t>但要講精準 —— 已經有少數「手刻」的特例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841248" y="4114800"/>
            <a:ext cx="10509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• cordoned.log.dirs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   要 metadata.version ≥ 4.3-IV0</a:t>
            </a:r>
            <a:b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• min.insync.replicas 變更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   受 ELR(eligible.leader.replicas.version)管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841248" y="5138928"/>
            <a:ext cx="105091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這些是 controller 裡一條條寫死的 if,不是通用框架(KAFKA-20544 正要把它重構掉)。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呼應嘉平 + 正在補的洞:KIP-1326 / 1294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566928" y="1828800"/>
            <a:ext cx="5346040" cy="2331720"/>
          </a:xfrm>
          <a:prstGeom prst="roundRect">
            <a:avLst>
              <a:gd fmla="val 3922" name="adj"/>
            </a:avLst>
          </a:prstGeom>
          <a:solidFill>
            <a:srgbClr val="F4F6F6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841248" y="1975104"/>
            <a:ext cx="479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嘉平第一場 · 第 3 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841248" y="2322576"/>
            <a:ext cx="479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「參數與邏輯檢查由 Binary 絕對驅動」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841248" y="2907792"/>
            <a:ext cx="4797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對。config 嚴格檢查跟著 binary,不跟 feature level —— 換 4.4 binary 就套 4.4 檢查,即使 MV 停在 4.3。MV 連「參數怎麼檢查」都管不到。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278728" y="1828800"/>
            <a:ext cx="5346040" cy="2331720"/>
          </a:xfrm>
          <a:prstGeom prst="roundRect">
            <a:avLst>
              <a:gd fmla="val 3922" name="adj"/>
            </a:avLst>
          </a:prstGeom>
          <a:solidFill>
            <a:srgbClr val="E7F3EE"/>
          </a:solidFill>
          <a:ln>
            <a:noFill/>
          </a:ln>
          <a:effectLst>
            <a:outerShdw blurRad="889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6553048" y="1975104"/>
            <a:ext cx="479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B5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B53"/>
                </a:solidFill>
                <a:latin typeface="Arial"/>
                <a:ea typeface="Arial"/>
                <a:cs typeface="Arial"/>
                <a:sym typeface="Arial"/>
              </a:rPr>
              <a:t>正在補(嘉平 reporter + TaiJuWu)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6553048" y="2359152"/>
            <a:ext cx="4797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KIP-1326</a:t>
            </a: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(投票中):broker 把 static config 報給 controller(存進 RegisterBrokerRecord)。純基礎建設、不含驗證。</a:t>
            </a:r>
            <a:b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KIP-1294</a:t>
            </a:r>
            <a:r>
              <a:rPr b="0" i="0" lang="en-US" sz="12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(討論中):升級前依目標 MV 檢查每台 config。← 真正的「參數檢查」。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66928" y="4343400"/>
            <a:ext cx="11057839" cy="1371600"/>
          </a:xfrm>
          <a:prstGeom prst="roundRect">
            <a:avLst>
              <a:gd fmla="val 6667" name="adj"/>
            </a:avLst>
          </a:prstGeom>
          <a:solidFill>
            <a:srgbClr val="F7F0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841248" y="4480560"/>
            <a:ext cx="1050919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6B1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C6B12"/>
                </a:solidFill>
                <a:latin typeface="Arial"/>
                <a:ea typeface="Arial"/>
                <a:cs typeface="Arial"/>
                <a:sym typeface="Arial"/>
              </a:rPr>
              <a:t>殺手例 · 串回 Q2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841248" y="4864608"/>
            <a:ext cx="1050919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未來 MV 若把 log.segment.bytes 下限 1B → 3MB:</a:t>
            </a:r>
            <a:r>
              <a:rPr b="0" i="0" lang="en-US" sz="135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今天不檢查 → 舊 config 的 broker 換 binary 後啟動失敗、連不進叢集、連 AlterConfigs 都救不了。KIP-1326+1294 把「restart 才爆」變「升級前擋」。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33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0B6B53"/>
          </a:solidFill>
          <a:ln cap="flat" cmpd="sng" w="12700">
            <a:solidFill>
              <a:srgbClr val="0B6B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566928" y="640080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566928" y="1728216"/>
            <a:ext cx="420624" cy="420624"/>
          </a:xfrm>
          <a:prstGeom prst="ellipse">
            <a:avLst/>
          </a:prstGeom>
          <a:solidFill>
            <a:srgbClr val="0F8A6B"/>
          </a:solidFill>
          <a:ln cap="flat" cmpd="sng" w="12700">
            <a:solidFill>
              <a:srgbClr val="0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566928" y="17282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207008" y="1645920"/>
            <a:ext cx="104177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FD8C5"/>
                </a:solidFill>
                <a:latin typeface="Arial"/>
                <a:ea typeface="Arial"/>
                <a:cs typeface="Arial"/>
                <a:sym typeface="Arial"/>
              </a:rPr>
              <a:t>MV 不是總開關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1207008" y="2075688"/>
            <a:ext cx="104177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DD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DDA"/>
                </a:solidFill>
                <a:latin typeface="Arial"/>
                <a:ea typeface="Arial"/>
                <a:cs typeface="Arial"/>
                <a:sym typeface="Arial"/>
              </a:rPr>
              <a:t>它是「格式錨點」;能力是 6 + 1 個獨立 feature,各自升降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566928" y="2807208"/>
            <a:ext cx="420624" cy="420624"/>
          </a:xfrm>
          <a:prstGeom prst="ellipse">
            <a:avLst/>
          </a:prstGeom>
          <a:solidFill>
            <a:srgbClr val="0F8A6B"/>
          </a:solidFill>
          <a:ln cap="flat" cmpd="sng" w="12700">
            <a:solidFill>
              <a:srgbClr val="0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566928" y="28072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207008" y="2724912"/>
            <a:ext cx="104177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FD8C5"/>
                </a:solidFill>
                <a:latin typeface="Arial"/>
                <a:ea typeface="Arial"/>
                <a:cs typeface="Arial"/>
                <a:sym typeface="Arial"/>
              </a:rPr>
              <a:t>把關在 Controller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207008" y="3154680"/>
            <a:ext cx="104177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DD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DDA"/>
                </a:solidFill>
                <a:latin typeface="Arial"/>
                <a:ea typeface="Arial"/>
                <a:cs typeface="Arial"/>
                <a:sym typeface="Arial"/>
              </a:rPr>
              <a:t>逐節點 supported range + quorum 全員;舊 binary 重新加入也擋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66928" y="3886200"/>
            <a:ext cx="420624" cy="420624"/>
          </a:xfrm>
          <a:prstGeom prst="ellipse">
            <a:avLst/>
          </a:prstGeom>
          <a:solidFill>
            <a:srgbClr val="0F8A6B"/>
          </a:solidFill>
          <a:ln cap="flat" cmpd="sng" w="12700">
            <a:solidFill>
              <a:srgbClr val="0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566928" y="3886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207008" y="3803904"/>
            <a:ext cx="104177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FD8C5"/>
                </a:solidFill>
                <a:latin typeface="Arial"/>
                <a:ea typeface="Arial"/>
                <a:cs typeface="Arial"/>
                <a:sym typeface="Arial"/>
              </a:rPr>
              <a:t>升易降難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207008" y="4233672"/>
            <a:ext cx="104177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DD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DDA"/>
                </a:solidFill>
                <a:latin typeface="Arial"/>
                <a:ea typeface="Arial"/>
                <a:cs typeface="Arial"/>
                <a:sym typeface="Arial"/>
              </a:rPr>
              <a:t>MV 跨格式不能降、--unsafe 沒用、kraft.version 不能降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566928" y="4965192"/>
            <a:ext cx="420624" cy="420624"/>
          </a:xfrm>
          <a:prstGeom prst="ellipse">
            <a:avLst/>
          </a:prstGeom>
          <a:solidFill>
            <a:srgbClr val="0F8A6B"/>
          </a:solidFill>
          <a:ln cap="flat" cmpd="sng" w="12700">
            <a:solidFill>
              <a:srgbClr val="0F8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566928" y="49651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207008" y="4882896"/>
            <a:ext cx="1041775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8C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FD8C5"/>
                </a:solidFill>
                <a:latin typeface="Arial"/>
                <a:ea typeface="Arial"/>
                <a:cs typeface="Arial"/>
                <a:sym typeface="Arial"/>
              </a:rPr>
              <a:t>config 檢查不歸 feature 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207008" y="5312664"/>
            <a:ext cx="104177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DD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2DDDA"/>
                </a:solidFill>
                <a:latin typeface="Arial"/>
                <a:ea typeface="Arial"/>
                <a:cs typeface="Arial"/>
                <a:sym typeface="Arial"/>
              </a:rPr>
              <a:t>目前跟著 binary 走;通用化是未來的 KIP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/>
          <p:nvPr/>
        </p:nvSpPr>
        <p:spPr>
          <a:xfrm>
            <a:off x="566928" y="420624"/>
            <a:ext cx="630936" cy="365760"/>
          </a:xfrm>
          <a:prstGeom prst="roundRect">
            <a:avLst>
              <a:gd fmla="val 20000" name="adj"/>
            </a:avLst>
          </a:prstGeom>
          <a:solidFill>
            <a:srgbClr val="0F8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566928" y="420624"/>
            <a:ext cx="630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附錄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66928" y="914400"/>
            <a:ext cx="110578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3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E2A33"/>
                </a:solidFill>
                <a:latin typeface="Arial"/>
                <a:ea typeface="Arial"/>
                <a:cs typeface="Arial"/>
                <a:sym typeface="Arial"/>
              </a:rPr>
              <a:t>Demo 速查表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566928" y="1874520"/>
            <a:ext cx="11057839" cy="3931920"/>
          </a:xfrm>
          <a:prstGeom prst="roundRect">
            <a:avLst>
              <a:gd fmla="val 2326" name="adj"/>
            </a:avLst>
          </a:prstGeom>
          <a:solidFill>
            <a:srgbClr val="1326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768096" y="2020824"/>
            <a:ext cx="10655503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看現況(連叢集)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--bootstrap-server :9092 describe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一個 release-version 展開成一排(離線、純查表)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version-mapping --release-version 4.1-IV0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feature-dependencies \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    --feature eligible.leader.replicas.version=1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升級;只動一個 feature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--bootstrap-server :9092 upgrade --release-version 4.1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--bootstrap-server :9092 upgrade --feature share.version=1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AA0A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A0A0"/>
                </a:solidFill>
                <a:latin typeface="Arial"/>
                <a:ea typeface="Arial"/>
                <a:cs typeface="Arial"/>
                <a:sym typeface="Arial"/>
              </a:rPr>
              <a:t># 降級會被擋(最安全的 demo)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86D9BD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6D9BD"/>
                </a:solidFill>
                <a:latin typeface="Arial"/>
                <a:ea typeface="Arial"/>
                <a:cs typeface="Arial"/>
                <a:sym typeface="Arial"/>
              </a:rPr>
              <a:t>kafka-features.sh --bootstrap-server :9092 downgrade --metadata 4.0 --dry-run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67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5A6670"/>
                </a:solidFill>
                <a:latin typeface="Arial"/>
                <a:ea typeface="Arial"/>
                <a:cs typeface="Arial"/>
                <a:sym typeface="Arial"/>
              </a:rPr>
              <a:t>注意:upgrade / downgrade 的 --feature 是 name=level;disable 的 --feature 只給名字。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26a250191_0_4"/>
          <p:cNvSpPr txBox="1"/>
          <p:nvPr/>
        </p:nvSpPr>
        <p:spPr>
          <a:xfrm>
            <a:off x="1948475" y="1041425"/>
            <a:ext cx="45213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 for Eric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如果一台broker下線了，其他台機器都升級了，那他回魂之後(maybe 不同機器with same broker id)能夠加入嗎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2.   </a:t>
            </a:r>
            <a:r>
              <a:rPr lang="en-US"/>
              <a:t>了解ELR的前是今生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升級到 ELR會有哪些影響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升級後對叢集設定有哪些影響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2026-06-25T13:26:12Z</dcterms:created>
  <dc:creator>鍾明諺</dc:creator>
</cp:coreProperties>
</file>